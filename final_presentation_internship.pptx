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to the respected examiners, supervisor, and lecturers. I am I Putu Agus Aribawa, Student ID E2400080. Today I am proud to present my Final Internship Defense for BIT320 Industrial Internship. Over the past 12 weeks from July to September 2026, I worked as a Backend Developer Intern at Code Cipta, where I independently designed, built, and deployed the complete backend infrastructure for our client, GRAHITA Design—a spatial architecture studio. The platform successfully bridges modern NestJS server architecture with an interactive Three.js 3D WebGL spatial canvas and full bilingual Chinese and English content localization. I received an industry evaluation score of 94 out of 100 (Grade: Excellent) from my supervisor at Code Cipta. Let us begin with the project background.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2, we outline the client's business context. GRAHITA Design needed to modernize its brand identity. Their prior website was purely static, unable to represent their complex spatial architecture, and had no administrative CMS. Our development team at Code Cipta established five core deliverables: a database-driven bilingual catalog, a validated inquiry pipeline with dual SMTP notification, an interactive 3D WebGL spatial synchronization algorithm, a unified monorepo developer setup, and a secured admin content management dashboard. As the backend developer, my responsibility was to architect and deliver the entire server-side system.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details our methodology. We implemented a hybrid Waterfall-Agile lifecycle. A purely Agile approach would have been hazardous because relational databases underpin the entire system—redesigning table structures mid-development would break active endpoints. Thus, the Waterfall phase locked our schema and NestJS architecture. Then, 2-week Agile sprints allowed us to build features iteratively, collaborate with Kevin on frontend bindings, and adapt to client feedback. This aligns with software engineering literature by Wankhede (2016) on blending stability with delivery agility.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4, we examine the server-side architectural foundation. We chose NestJS because its opinionated Controller-Service-Module pattern mirrors Angular's architecture, creating a unified development mental model. Our data tier leverages SQLite via native 'better-sqlite3' bindings. For an architecture studio portfolio, this offers sub-millisecond local queries with zero operational database server maintenance. Every incoming HTTP request traverses our global ValidationPipe to sanitize payload attributes and the ThrottlerModule to prevent spam. The right card indicates where to paste the AppModule and main.ts code diagram.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describes the relational schema design and seeding mechanism. Our schema models architectural realities: a Project has multiple gallery photos (ProjectImage) linked via a cascading one-to-many relationship. Crucially, the Project entity includes the 'cubeIndex' column, which anchors each project to a specific 3D coordinate in the browser. To streamline development and grading evaluations, I engineered an automated seeding routine using NestJS's OnModuleInit lifecycle hook: if the database is blank on launch, five pre-configured architectural projects and an admin user are seeded instantly.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presents our primary technical engineering challenge. In our system, the frontend Three.js engine dynamically builds 55 3D spatial cubes. If two projects had the same cube index, the 3D raycaster would attempt to bind two distinct architecture pages to the exact same WebGL mesh coordinate. To solve this, I designed and coded the 'handleCubeIndexConflict' algorithm. Notice the TypeORM query using 'Not(currentProjectId)': if an administrative user assigns project A to cube 12 while project B already has cube 12, the backend automatically detaches project B by setting its cubeIndex to null before saving project A. This ensures absolute mathematical uniqueness across our spatial API.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showcases our inquiry communication pipeline and API route security. When prospective architectural clients submit inquiries, NestJS validates the payload with class-validator. Then, our MailModule executes asynchronous dual email dispatch: the studio administrator receives the full client message with the replyTo header pointing to the client, while the client immediately receives an automated confirmation receipt. Crucially, I implemented a simulation fallback mode: if SMTP credentials are absent in local development, it safely logs the email to the console without breaking database transactions. Administrative write operations are guarded by Passport JWT tokens with 100% test coverage in Postman.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the full-stack system in action. My backend APIs were integrated with an Angular 18 frontend developed by Kevin Wiratama. The public website features a Three.js WebGL canvas where users navigate 55 3D spatial cubes. When hovered, raycasters detect the cube, fetch the bound project details, and show glassmorphic tooltips in English or Chinese. On the right, we showcase the Admin Dashboard: studio administrators can log in securely, upload multiple high-resolution photos, and modify cube slot indices without ever touching a database console.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demonstrates diagnostic problem solving. During final testing of the Admin Dashboard, we encountered an intermittent error when modifying text metadata and replacing gallery photos simultaneously. Rather than ignoring it, I conducted systematic batch testing in Postman and inspected NestJS stack traces. I isolated the root cause: Multer file streaming concurrently with 'keepImageIds' filtering caused TypeORM to attempt cascade saving while child entities were detached. I designed an explicit QueryRunner transaction mitigation. Crucially, this defect is isolated entirely to admin batch edge-cases; all public endpoints, 3D portals, and contact forms operate at 100% stability. This transparent reporting was commended by my supervisor during my evaluation.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my 12-week internship at Code Cipta has been an invaluable transformative experience. We fulfilled all project objectives for GRAHITA Design, delivering a modern, high-performance, and bilingual spatial portfolio. I was honored to receive an industry evaluation score of 94/100, which reflects both the technical execution and my dedication to professional growth. I would like to express my sincere gratitude to my supervisor at Code Cipta, my academic lecturers at HELP University, and my teammate Kevin. Thank you very much. I am now pleased to welcome any questions from the examiners.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005840"/>
            <a:ext cx="7315200" cy="365760"/>
          </a:xfrm>
          <a:prstGeom prst="rect">
            <a:avLst/>
          </a:prstGeom>
          <a:noFill/>
        </p:spPr>
        <p:txBody>
          <a:bodyPr wrap="none">
            <a:spAutoFit/>
          </a:bodyPr>
          <a:lstStyle/>
          <a:p>
            <a:pPr>
              <a:defRPr sz="1100" b="1">
                <a:solidFill>
                  <a:srgbClr val="0EA5E9"/>
                </a:solidFill>
              </a:defRPr>
            </a:pPr>
            <a:r>
              <a:t>HELP UNIVERSITY  |  BIT320 INDUSTRIAL INTERNSHIP FINAL DEFENSE</a:t>
            </a:r>
          </a:p>
        </p:txBody>
      </p:sp>
      <p:sp>
        <p:nvSpPr>
          <p:cNvPr id="4" name="TextBox 3"/>
          <p:cNvSpPr txBox="1"/>
          <p:nvPr/>
        </p:nvSpPr>
        <p:spPr>
          <a:xfrm>
            <a:off x="914400" y="1371600"/>
            <a:ext cx="10332720" cy="1645920"/>
          </a:xfrm>
          <a:prstGeom prst="rect">
            <a:avLst/>
          </a:prstGeom>
          <a:noFill/>
        </p:spPr>
        <p:txBody>
          <a:bodyPr wrap="square">
            <a:spAutoFit/>
          </a:bodyPr>
          <a:lstStyle/>
          <a:p>
            <a:pPr>
              <a:defRPr sz="3200" b="1">
                <a:solidFill>
                  <a:srgbClr val="FFFFFF"/>
                </a:solidFill>
              </a:defRPr>
            </a:pPr>
            <a:r>
              <a:t>Development of Scalable Backend Architecture &amp; 3D Spatial Coordination API for GRAHITA Design</a:t>
            </a:r>
          </a:p>
        </p:txBody>
      </p:sp>
      <p:sp>
        <p:nvSpPr>
          <p:cNvPr id="5" name="TextBox 4"/>
          <p:cNvSpPr txBox="1"/>
          <p:nvPr/>
        </p:nvSpPr>
        <p:spPr>
          <a:xfrm>
            <a:off x="914400" y="3108960"/>
            <a:ext cx="10332720" cy="548640"/>
          </a:xfrm>
          <a:prstGeom prst="rect">
            <a:avLst/>
          </a:prstGeom>
          <a:noFill/>
        </p:spPr>
        <p:txBody>
          <a:bodyPr wrap="square">
            <a:spAutoFit/>
          </a:bodyPr>
          <a:lstStyle/>
          <a:p>
            <a:pPr>
              <a:defRPr sz="1600">
                <a:solidFill>
                  <a:srgbClr val="CBD5E1"/>
                </a:solidFill>
              </a:defRPr>
            </a:pPr>
            <a:r>
              <a:t>A Cloud-Deployed NestJS &amp; SQLite RESTful System Integrating 3D WebGL Spatial Portals &amp; Bilingual Localization</a:t>
            </a:r>
          </a:p>
        </p:txBody>
      </p:sp>
      <p:sp>
        <p:nvSpPr>
          <p:cNvPr id="6" name="Rectangle 5"/>
          <p:cNvSpPr/>
          <p:nvPr/>
        </p:nvSpPr>
        <p:spPr>
          <a:xfrm>
            <a:off x="91440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4251960"/>
            <a:ext cx="2093976" cy="1463040"/>
          </a:xfrm>
          <a:prstGeom prst="rect">
            <a:avLst/>
          </a:prstGeom>
          <a:noFill/>
        </p:spPr>
        <p:txBody>
          <a:bodyPr wrap="square">
            <a:spAutoFit/>
          </a:bodyPr>
          <a:lstStyle/>
          <a:p>
            <a:pPr>
              <a:defRPr sz="900" b="1">
                <a:solidFill>
                  <a:srgbClr val="0EA5E9"/>
                </a:solidFill>
              </a:defRPr>
            </a:pPr>
            <a:r>
              <a:t>STUDENT &amp; ROLE</a:t>
            </a:r>
          </a:p>
          <a:p>
            <a:pPr>
              <a:spcBef>
                <a:spcPts val="600"/>
              </a:spcBef>
              <a:defRPr sz="1100">
                <a:solidFill>
                  <a:srgbClr val="FFFFFF"/>
                </a:solidFill>
              </a:defRPr>
            </a:pPr>
            <a:r>
              <a:t>I Putu Agus Aribawa</a:t>
            </a:r>
            <a:br/>
            <a:r>
              <a:t>ID: E2400080</a:t>
            </a:r>
            <a:br/>
            <a:r>
              <a:t>Backend Developer Intern</a:t>
            </a:r>
          </a:p>
        </p:txBody>
      </p:sp>
      <p:sp>
        <p:nvSpPr>
          <p:cNvPr id="8" name="Rectangle 7"/>
          <p:cNvSpPr/>
          <p:nvPr/>
        </p:nvSpPr>
        <p:spPr>
          <a:xfrm>
            <a:off x="352044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85032" y="4251960"/>
            <a:ext cx="2093976" cy="1463040"/>
          </a:xfrm>
          <a:prstGeom prst="rect">
            <a:avLst/>
          </a:prstGeom>
          <a:noFill/>
        </p:spPr>
        <p:txBody>
          <a:bodyPr wrap="square">
            <a:spAutoFit/>
          </a:bodyPr>
          <a:lstStyle/>
          <a:p>
            <a:pPr>
              <a:defRPr sz="900" b="1">
                <a:solidFill>
                  <a:srgbClr val="0284C7"/>
                </a:solidFill>
              </a:defRPr>
            </a:pPr>
            <a:r>
              <a:t>HOST ORGANISATION</a:t>
            </a:r>
          </a:p>
          <a:p>
            <a:pPr>
              <a:spcBef>
                <a:spcPts val="600"/>
              </a:spcBef>
              <a:defRPr sz="1100">
                <a:solidFill>
                  <a:srgbClr val="FFFFFF"/>
                </a:solidFill>
              </a:defRPr>
            </a:pPr>
            <a:r>
              <a:t>Code Cipta</a:t>
            </a:r>
            <a:br/>
            <a:r>
              <a:t>Software House &amp; Digital Agency</a:t>
            </a:r>
            <a:br/>
            <a:r>
              <a:t>Lead: Team Supervisor</a:t>
            </a:r>
          </a:p>
        </p:txBody>
      </p:sp>
      <p:sp>
        <p:nvSpPr>
          <p:cNvPr id="10" name="Rectangle 9"/>
          <p:cNvSpPr/>
          <p:nvPr/>
        </p:nvSpPr>
        <p:spPr>
          <a:xfrm>
            <a:off x="612648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4251960"/>
            <a:ext cx="2093976" cy="1463040"/>
          </a:xfrm>
          <a:prstGeom prst="rect">
            <a:avLst/>
          </a:prstGeom>
          <a:noFill/>
        </p:spPr>
        <p:txBody>
          <a:bodyPr wrap="square">
            <a:spAutoFit/>
          </a:bodyPr>
          <a:lstStyle/>
          <a:p>
            <a:pPr>
              <a:defRPr sz="900" b="1">
                <a:solidFill>
                  <a:srgbClr val="0284C7"/>
                </a:solidFill>
              </a:defRPr>
            </a:pPr>
            <a:r>
              <a:t>CLIENT ORGANISATION</a:t>
            </a:r>
          </a:p>
          <a:p>
            <a:pPr>
              <a:spcBef>
                <a:spcPts val="600"/>
              </a:spcBef>
              <a:defRPr sz="1100">
                <a:solidFill>
                  <a:srgbClr val="FFFFFF"/>
                </a:solidFill>
              </a:defRPr>
            </a:pPr>
            <a:r>
              <a:t>GRAHITA Design</a:t>
            </a:r>
            <a:br/>
            <a:r>
              <a:t>Spatial Architecture Studio</a:t>
            </a:r>
            <a:br/>
            <a:r>
              <a:t>Client Principal: Bli Dek</a:t>
            </a:r>
          </a:p>
        </p:txBody>
      </p:sp>
      <p:sp>
        <p:nvSpPr>
          <p:cNvPr id="12" name="Rectangle 11"/>
          <p:cNvSpPr/>
          <p:nvPr/>
        </p:nvSpPr>
        <p:spPr>
          <a:xfrm>
            <a:off x="8732520" y="4114800"/>
            <a:ext cx="2423160" cy="1737360"/>
          </a:xfrm>
          <a:prstGeom prst="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97112" y="4251960"/>
            <a:ext cx="2093976" cy="1463040"/>
          </a:xfrm>
          <a:prstGeom prst="rect">
            <a:avLst/>
          </a:prstGeom>
          <a:noFill/>
        </p:spPr>
        <p:txBody>
          <a:bodyPr wrap="square">
            <a:spAutoFit/>
          </a:bodyPr>
          <a:lstStyle/>
          <a:p>
            <a:pPr>
              <a:defRPr sz="900" b="1">
                <a:solidFill>
                  <a:srgbClr val="F59E0B"/>
                </a:solidFill>
              </a:defRPr>
            </a:pPr>
            <a:r>
              <a:t>EVALUATION &amp; DURATION</a:t>
            </a:r>
          </a:p>
          <a:p>
            <a:pPr>
              <a:spcBef>
                <a:spcPts val="600"/>
              </a:spcBef>
              <a:defRPr sz="1100">
                <a:solidFill>
                  <a:srgbClr val="FFFFFF"/>
                </a:solidFill>
              </a:defRPr>
            </a:pPr>
            <a:r>
              <a:t>12 Weeks (July – Sept 2026)</a:t>
            </a:r>
            <a:br/>
            <a:r>
              <a:t>Industry Score: 94 / 100</a:t>
            </a:r>
            <a:br/>
            <a:r>
              <a:t>Grade: Excellent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01 | PROJECT CONTEXT &amp; SCOPE</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Project Background &amp; 5 Core Deliverables</a:t>
            </a:r>
          </a:p>
        </p:txBody>
      </p:sp>
      <p:sp>
        <p:nvSpPr>
          <p:cNvPr id="4" name="Rectangle 3"/>
          <p:cNvSpPr/>
          <p:nvPr/>
        </p:nvSpPr>
        <p:spPr>
          <a:xfrm>
            <a:off x="731520" y="1280160"/>
            <a:ext cx="3931920" cy="2331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3566160" cy="2011680"/>
          </a:xfrm>
          <a:prstGeom prst="rect">
            <a:avLst/>
          </a:prstGeom>
          <a:noFill/>
        </p:spPr>
        <p:txBody>
          <a:bodyPr wrap="square">
            <a:spAutoFit/>
          </a:bodyPr>
          <a:lstStyle/>
          <a:p>
            <a:pPr>
              <a:defRPr sz="1000" b="1">
                <a:solidFill>
                  <a:srgbClr val="0284C7"/>
                </a:solidFill>
              </a:defRPr>
            </a:pPr>
            <a:r>
              <a:t>PROBLEM STATEMENT</a:t>
            </a:r>
          </a:p>
          <a:p>
            <a:pPr>
              <a:spcBef>
                <a:spcPts val="400"/>
              </a:spcBef>
              <a:defRPr sz="950">
                <a:solidFill>
                  <a:srgbClr val="0F172A"/>
                </a:solidFill>
              </a:defRPr>
            </a:pPr>
            <a:r>
              <a:t>• Legacy Static Portfolio: GRAHITA Design operated with a static, hardcoded website that required manual developer intervention for any content changes.</a:t>
            </a:r>
          </a:p>
          <a:p>
            <a:pPr>
              <a:spcBef>
                <a:spcPts val="400"/>
              </a:spcBef>
              <a:defRPr sz="950">
                <a:solidFill>
                  <a:srgbClr val="0F172A"/>
                </a:solidFill>
              </a:defRPr>
            </a:pPr>
            <a:r>
              <a:t>• Disconnected Spatial Identity: The firm specializes in avant-garde spatial architecture, yet its digital presence lacked interactive 3D spatial dimension.</a:t>
            </a:r>
          </a:p>
          <a:p>
            <a:pPr>
              <a:spcBef>
                <a:spcPts val="400"/>
              </a:spcBef>
              <a:defRPr sz="950">
                <a:solidFill>
                  <a:srgbClr val="0F172A"/>
                </a:solidFill>
              </a:defRPr>
            </a:pPr>
            <a:r>
              <a:t>• Zero Inquiries Pipeline: Inquiries were unvalidated, leading to missed client leads and potential email spoofing.</a:t>
            </a:r>
          </a:p>
        </p:txBody>
      </p:sp>
      <p:sp>
        <p:nvSpPr>
          <p:cNvPr id="6" name="Rectangle 5"/>
          <p:cNvSpPr/>
          <p:nvPr/>
        </p:nvSpPr>
        <p:spPr>
          <a:xfrm>
            <a:off x="731520" y="3794760"/>
            <a:ext cx="3931920" cy="24688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931920"/>
            <a:ext cx="3566160" cy="2103120"/>
          </a:xfrm>
          <a:prstGeom prst="rect">
            <a:avLst/>
          </a:prstGeom>
          <a:noFill/>
        </p:spPr>
        <p:txBody>
          <a:bodyPr wrap="square">
            <a:spAutoFit/>
          </a:bodyPr>
          <a:lstStyle/>
          <a:p>
            <a:pPr>
              <a:defRPr sz="1000" b="1">
                <a:solidFill>
                  <a:srgbClr val="0284C7"/>
                </a:solidFill>
              </a:defRPr>
            </a:pPr>
            <a:r>
              <a:t>TARGET TRANSFORMATION</a:t>
            </a:r>
          </a:p>
          <a:p>
            <a:pPr>
              <a:spcBef>
                <a:spcPts val="400"/>
              </a:spcBef>
              <a:defRPr sz="950">
                <a:solidFill>
                  <a:srgbClr val="0F172A"/>
                </a:solidFill>
              </a:defRPr>
            </a:pPr>
            <a:r>
              <a:t>• Dynamic Database-Driven Backend: Full relational lifecycle via NestJS + SQLite for zero-latency execution.</a:t>
            </a:r>
          </a:p>
          <a:p>
            <a:pPr>
              <a:spcBef>
                <a:spcPts val="400"/>
              </a:spcBef>
              <a:defRPr sz="950">
                <a:solidFill>
                  <a:srgbClr val="0F172A"/>
                </a:solidFill>
              </a:defRPr>
            </a:pPr>
            <a:r>
              <a:t>• Bilingual Localization: Complete parity between Chinese (Mandarin) and English architectural specs and project narratives.</a:t>
            </a:r>
          </a:p>
          <a:p>
            <a:pPr>
              <a:spcBef>
                <a:spcPts val="400"/>
              </a:spcBef>
              <a:defRPr sz="950">
                <a:solidFill>
                  <a:srgbClr val="0F172A"/>
                </a:solidFill>
              </a:defRPr>
            </a:pPr>
            <a:r>
              <a:t>• 3D WebGL Coordination: Real-time synchronization between relational database records and 55 Three.js spatial cube portals.</a:t>
            </a:r>
          </a:p>
        </p:txBody>
      </p:sp>
      <p:sp>
        <p:nvSpPr>
          <p:cNvPr id="8" name="Rectangle 7"/>
          <p:cNvSpPr/>
          <p:nvPr/>
        </p:nvSpPr>
        <p:spPr>
          <a:xfrm>
            <a:off x="4892040" y="1280160"/>
            <a:ext cx="65379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371600"/>
            <a:ext cx="6172200" cy="713232"/>
          </a:xfrm>
          <a:prstGeom prst="rect">
            <a:avLst/>
          </a:prstGeom>
          <a:noFill/>
        </p:spPr>
        <p:txBody>
          <a:bodyPr wrap="square">
            <a:spAutoFit/>
          </a:bodyPr>
          <a:lstStyle/>
          <a:p>
            <a:pPr>
              <a:defRPr sz="1050" b="1">
                <a:solidFill>
                  <a:srgbClr val="0284C7"/>
                </a:solidFill>
              </a:defRPr>
            </a:pPr>
            <a:r>
              <a:t>1. Database-Driven Portfolio Catalog</a:t>
            </a:r>
          </a:p>
          <a:p>
            <a:pPr>
              <a:spcBef>
                <a:spcPts val="200"/>
              </a:spcBef>
              <a:defRPr sz="900">
                <a:solidFill>
                  <a:srgbClr val="64748B"/>
                </a:solidFill>
              </a:defRPr>
            </a:pPr>
            <a:r>
              <a:t>Comprehensive CRUD endpoints for architectural projects, relational multi-image galleries, and bilingual metadata (Chinese &amp; English).</a:t>
            </a:r>
          </a:p>
        </p:txBody>
      </p:sp>
      <p:sp>
        <p:nvSpPr>
          <p:cNvPr id="10" name="Rectangle 9"/>
          <p:cNvSpPr/>
          <p:nvPr/>
        </p:nvSpPr>
        <p:spPr>
          <a:xfrm>
            <a:off x="4892040" y="2267712"/>
            <a:ext cx="65379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74920" y="2359152"/>
            <a:ext cx="6172200" cy="713232"/>
          </a:xfrm>
          <a:prstGeom prst="rect">
            <a:avLst/>
          </a:prstGeom>
          <a:noFill/>
        </p:spPr>
        <p:txBody>
          <a:bodyPr wrap="square">
            <a:spAutoFit/>
          </a:bodyPr>
          <a:lstStyle/>
          <a:p>
            <a:pPr>
              <a:defRPr sz="1050" b="1">
                <a:solidFill>
                  <a:srgbClr val="0284C7"/>
                </a:solidFill>
              </a:defRPr>
            </a:pPr>
            <a:r>
              <a:t>2. Validated Client Inquiry System</a:t>
            </a:r>
          </a:p>
          <a:p>
            <a:pPr>
              <a:spcBef>
                <a:spcPts val="200"/>
              </a:spcBef>
              <a:defRPr sz="900">
                <a:solidFill>
                  <a:srgbClr val="64748B"/>
                </a:solidFill>
              </a:defRPr>
            </a:pPr>
            <a:r>
              <a:t>Secure POST /contact route with class-validator DTOs, and asynchronous dual Nodemailer SMTP notifications to studio and client.</a:t>
            </a:r>
          </a:p>
        </p:txBody>
      </p:sp>
      <p:sp>
        <p:nvSpPr>
          <p:cNvPr id="12" name="Rectangle 11"/>
          <p:cNvSpPr/>
          <p:nvPr/>
        </p:nvSpPr>
        <p:spPr>
          <a:xfrm>
            <a:off x="4892040" y="3255264"/>
            <a:ext cx="65379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3346704"/>
            <a:ext cx="6172200" cy="713232"/>
          </a:xfrm>
          <a:prstGeom prst="rect">
            <a:avLst/>
          </a:prstGeom>
          <a:noFill/>
        </p:spPr>
        <p:txBody>
          <a:bodyPr wrap="square">
            <a:spAutoFit/>
          </a:bodyPr>
          <a:lstStyle/>
          <a:p>
            <a:pPr>
              <a:defRPr sz="1050" b="1">
                <a:solidFill>
                  <a:srgbClr val="0284C7"/>
                </a:solidFill>
              </a:defRPr>
            </a:pPr>
            <a:r>
              <a:t>3. Interactive 3D Spatial Canvas Sync</a:t>
            </a:r>
          </a:p>
          <a:p>
            <a:pPr>
              <a:spcBef>
                <a:spcPts val="200"/>
              </a:spcBef>
              <a:defRPr sz="900">
                <a:solidFill>
                  <a:srgbClr val="64748B"/>
                </a:solidFill>
              </a:defRPr>
            </a:pPr>
            <a:r>
              <a:t>Dynamic coordinate mapping linking database project records to 55 Three.js interactive cube mesh portals without index collision.</a:t>
            </a:r>
          </a:p>
        </p:txBody>
      </p:sp>
      <p:sp>
        <p:nvSpPr>
          <p:cNvPr id="14" name="Rectangle 13"/>
          <p:cNvSpPr/>
          <p:nvPr/>
        </p:nvSpPr>
        <p:spPr>
          <a:xfrm>
            <a:off x="4892040" y="4242816"/>
            <a:ext cx="65379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74920" y="4334256"/>
            <a:ext cx="6172200" cy="713232"/>
          </a:xfrm>
          <a:prstGeom prst="rect">
            <a:avLst/>
          </a:prstGeom>
          <a:noFill/>
        </p:spPr>
        <p:txBody>
          <a:bodyPr wrap="square">
            <a:spAutoFit/>
          </a:bodyPr>
          <a:lstStyle/>
          <a:p>
            <a:pPr>
              <a:defRPr sz="1050" b="1">
                <a:solidFill>
                  <a:srgbClr val="0284C7"/>
                </a:solidFill>
              </a:defRPr>
            </a:pPr>
            <a:r>
              <a:t>4. Scalable Monorepo Workflow</a:t>
            </a:r>
          </a:p>
          <a:p>
            <a:pPr>
              <a:spcBef>
                <a:spcPts val="200"/>
              </a:spcBef>
              <a:defRPr sz="900">
                <a:solidFill>
                  <a:srgbClr val="64748B"/>
                </a:solidFill>
              </a:defRPr>
            </a:pPr>
            <a:r>
              <a:t>Unified developer experience using 'concurrently' to launch NestJS backend and Angular 18 frontend with one unified command.</a:t>
            </a:r>
          </a:p>
        </p:txBody>
      </p:sp>
      <p:sp>
        <p:nvSpPr>
          <p:cNvPr id="16" name="Rectangle 15"/>
          <p:cNvSpPr/>
          <p:nvPr/>
        </p:nvSpPr>
        <p:spPr>
          <a:xfrm>
            <a:off x="4892040" y="5230368"/>
            <a:ext cx="6537960" cy="896112"/>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74920" y="5321808"/>
            <a:ext cx="6172200" cy="713232"/>
          </a:xfrm>
          <a:prstGeom prst="rect">
            <a:avLst/>
          </a:prstGeom>
          <a:noFill/>
        </p:spPr>
        <p:txBody>
          <a:bodyPr wrap="square">
            <a:spAutoFit/>
          </a:bodyPr>
          <a:lstStyle/>
          <a:p>
            <a:pPr>
              <a:defRPr sz="1050" b="1">
                <a:solidFill>
                  <a:srgbClr val="0284C7"/>
                </a:solidFill>
              </a:defRPr>
            </a:pPr>
            <a:r>
              <a:t>5. Secured Admin Content Management Dashboard</a:t>
            </a:r>
          </a:p>
          <a:p>
            <a:pPr>
              <a:spcBef>
                <a:spcPts val="200"/>
              </a:spcBef>
              <a:defRPr sz="900">
                <a:solidFill>
                  <a:srgbClr val="64748B"/>
                </a:solidFill>
              </a:defRPr>
            </a:pPr>
            <a:r>
              <a:t>Administrative authentication with Passport JWT and bcrypt, enabling independent studio portfolio management without developer support.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02 | ENGINEERING METHODOLOGY</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Methodology: Hybrid Waterfall-Agile Model</a:t>
            </a:r>
          </a:p>
        </p:txBody>
      </p:sp>
      <p:sp>
        <p:nvSpPr>
          <p:cNvPr id="4" name="Rectangle 3"/>
          <p:cNvSpPr/>
          <p:nvPr/>
        </p:nvSpPr>
        <p:spPr>
          <a:xfrm>
            <a:off x="731520" y="1280160"/>
            <a:ext cx="5212080" cy="3931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3566160"/>
          </a:xfrm>
          <a:prstGeom prst="rect">
            <a:avLst/>
          </a:prstGeom>
          <a:noFill/>
        </p:spPr>
        <p:txBody>
          <a:bodyPr wrap="square">
            <a:spAutoFit/>
          </a:bodyPr>
          <a:lstStyle/>
          <a:p>
            <a:pPr>
              <a:defRPr sz="1100" b="1">
                <a:solidFill>
                  <a:srgbClr val="0284C7"/>
                </a:solidFill>
              </a:defRPr>
            </a:pPr>
            <a:r>
              <a:t>UPFRONT WATERFALL FOUNDATION (WEEKS 1 – 4)</a:t>
            </a:r>
          </a:p>
          <a:p>
            <a:pPr>
              <a:spcBef>
                <a:spcPts val="800"/>
              </a:spcBef>
              <a:defRPr sz="950">
                <a:solidFill>
                  <a:srgbClr val="0F172A"/>
                </a:solidFill>
              </a:defRPr>
            </a:pPr>
            <a:r>
              <a:t>• Requirements Analysis: Formal stakeholder alignment with studio principal Bli Dek and Code Cipta Product Leader to lock data scope.</a:t>
            </a:r>
          </a:p>
          <a:p>
            <a:pPr>
              <a:spcBef>
                <a:spcPts val="800"/>
              </a:spcBef>
              <a:defRPr sz="950">
                <a:solidFill>
                  <a:srgbClr val="0F172A"/>
                </a:solidFill>
              </a:defRPr>
            </a:pPr>
            <a:r>
              <a:t>• Relational Schema Freezing: Designed and locked ERD entities (Project, ProjectImage, Contact) to prevent catastrophic mid-project relational redesigns.</a:t>
            </a:r>
          </a:p>
          <a:p>
            <a:pPr>
              <a:spcBef>
                <a:spcPts val="800"/>
              </a:spcBef>
              <a:defRPr sz="950">
                <a:solidFill>
                  <a:srgbClr val="0F172A"/>
                </a:solidFill>
              </a:defRPr>
            </a:pPr>
            <a:r>
              <a:t>• Modular Architecture Scaffolding: NestJS modular structure and TypeORM SQLite connection established before coding user features.</a:t>
            </a:r>
          </a:p>
          <a:p>
            <a:pPr>
              <a:spcBef>
                <a:spcPts val="800"/>
              </a:spcBef>
              <a:defRPr sz="950">
                <a:solidFill>
                  <a:srgbClr val="0F172A"/>
                </a:solidFill>
              </a:defRPr>
            </a:pPr>
            <a:r>
              <a:t>• Security &amp; DTO Standard: Established class-validator rules and API contract conventions across both development teams.</a:t>
            </a:r>
          </a:p>
        </p:txBody>
      </p:sp>
      <p:sp>
        <p:nvSpPr>
          <p:cNvPr id="6" name="Rectangle 5"/>
          <p:cNvSpPr/>
          <p:nvPr/>
        </p:nvSpPr>
        <p:spPr>
          <a:xfrm>
            <a:off x="6217920" y="1280160"/>
            <a:ext cx="5212080" cy="3931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3566160"/>
          </a:xfrm>
          <a:prstGeom prst="rect">
            <a:avLst/>
          </a:prstGeom>
          <a:noFill/>
        </p:spPr>
        <p:txBody>
          <a:bodyPr wrap="square">
            <a:spAutoFit/>
          </a:bodyPr>
          <a:lstStyle/>
          <a:p>
            <a:pPr>
              <a:defRPr sz="1100" b="1">
                <a:solidFill>
                  <a:srgbClr val="0284C7"/>
                </a:solidFill>
              </a:defRPr>
            </a:pPr>
            <a:r>
              <a:t>ITERATIVE AGILE SPRINTS (WEEKS 6 – 14)</a:t>
            </a:r>
          </a:p>
          <a:p>
            <a:pPr>
              <a:spcBef>
                <a:spcPts val="800"/>
              </a:spcBef>
              <a:defRPr sz="950">
                <a:solidFill>
                  <a:srgbClr val="0F172A"/>
                </a:solidFill>
              </a:defRPr>
            </a:pPr>
            <a:r>
              <a:t>• 2-Week Sprint Cycles: Iterative delivery of Projects CRUD, Contact Form, Passport JWT Auth, and Admin Dashboard CMS.</a:t>
            </a:r>
          </a:p>
          <a:p>
            <a:pPr>
              <a:spcBef>
                <a:spcPts val="800"/>
              </a:spcBef>
              <a:defRPr sz="950">
                <a:solidFill>
                  <a:srgbClr val="0F172A"/>
                </a:solidFill>
              </a:defRPr>
            </a:pPr>
            <a:r>
              <a:t>• Continuous Frontend Co-Development: Daily API contract synchronization with Kevin Wiratama (Angular 18) via Discord &amp; Postman.</a:t>
            </a:r>
          </a:p>
          <a:p>
            <a:pPr>
              <a:spcBef>
                <a:spcPts val="800"/>
              </a:spcBef>
              <a:defRPr sz="950">
                <a:solidFill>
                  <a:srgbClr val="0F172A"/>
                </a:solidFill>
              </a:defRPr>
            </a:pPr>
            <a:r>
              <a:t>• Adaptive Scope Refinement: Accommodated late-stage client additions: 3D cube slot mapping, multi-image upload galleries, and bilingual fields.</a:t>
            </a:r>
          </a:p>
          <a:p>
            <a:pPr>
              <a:spcBef>
                <a:spcPts val="800"/>
              </a:spcBef>
              <a:defRPr sz="950">
                <a:solidFill>
                  <a:srgbClr val="0F172A"/>
                </a:solidFill>
              </a:defRPr>
            </a:pPr>
            <a:r>
              <a:t>• Bi-Weekly Client Reviews: Regular milestone demos with Bli Dek to test working increments and capture feedback early.</a:t>
            </a:r>
          </a:p>
        </p:txBody>
      </p:sp>
      <p:sp>
        <p:nvSpPr>
          <p:cNvPr id="8" name="Rectangle 7"/>
          <p:cNvSpPr/>
          <p:nvPr/>
        </p:nvSpPr>
        <p:spPr>
          <a:xfrm>
            <a:off x="731520" y="5394960"/>
            <a:ext cx="10698480" cy="960120"/>
          </a:xfrm>
          <a:prstGeom prst="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486400"/>
            <a:ext cx="10332720" cy="777240"/>
          </a:xfrm>
          <a:prstGeom prst="rect">
            <a:avLst/>
          </a:prstGeom>
          <a:noFill/>
        </p:spPr>
        <p:txBody>
          <a:bodyPr wrap="square">
            <a:spAutoFit/>
          </a:bodyPr>
          <a:lstStyle/>
          <a:p>
            <a:pPr>
              <a:defRPr sz="950" b="1">
                <a:solidFill>
                  <a:srgbClr val="0EA5E9"/>
                </a:solidFill>
              </a:defRPr>
            </a:pPr>
            <a:r>
              <a:t>ACADEMIC JUSTIFICATION (Wankhede, 2016):</a:t>
            </a:r>
          </a:p>
          <a:p>
            <a:pPr>
              <a:spcBef>
                <a:spcPts val="200"/>
              </a:spcBef>
              <a:defRPr sz="900" i="1">
                <a:solidFill>
                  <a:srgbClr val="FFFFFF"/>
                </a:solidFill>
              </a:defRPr>
            </a:pPr>
            <a:r>
              <a:t>"A hybrid Waterfall-Agile approach is the most pragmatic model for database-driven engineering: locking critical architectural schema foundations upfront prevents expensive database refactoring, while iterative sprints allow rapid UI adaptation to client feedback."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03 | SYSTEM ARCHITECTURE</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System Architecture &amp; Modular Request Pipeline</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MODULAR ARCHITECTURE SPECIFICATIONS</a:t>
            </a:r>
          </a:p>
          <a:p>
            <a:pPr>
              <a:spcBef>
                <a:spcPts val="600"/>
              </a:spcBef>
              <a:defRPr sz="900">
                <a:solidFill>
                  <a:srgbClr val="0F172A"/>
                </a:solidFill>
              </a:defRPr>
            </a:pPr>
            <a:r>
              <a:t>• NestJS Framework (TypeScript): Strict modular design implementing Controllers, Services, and Dependency Injection (DI) for testable and maintainable code.</a:t>
            </a:r>
          </a:p>
          <a:p>
            <a:pPr>
              <a:spcBef>
                <a:spcPts val="600"/>
              </a:spcBef>
              <a:defRPr sz="900">
                <a:solidFill>
                  <a:srgbClr val="0F172A"/>
                </a:solidFill>
              </a:defRPr>
            </a:pPr>
            <a:r>
              <a:t>• High-Performance Data Layer: SQLite with native 'better-sqlite3' binding. Zero-latency embedded database with no external network socket overhead, managed through TypeORM.</a:t>
            </a:r>
          </a:p>
          <a:p>
            <a:pPr>
              <a:spcBef>
                <a:spcPts val="600"/>
              </a:spcBef>
              <a:defRPr sz="900">
                <a:solidFill>
                  <a:srgbClr val="0F172A"/>
                </a:solidFill>
              </a:defRPr>
            </a:pPr>
            <a:r>
              <a:t>• Security &amp; Rate Limiting: @nestjs/throttler configured globally (100 req/60s), with strict limits on /contact and /auth/login to protect against brute-force attacks.</a:t>
            </a:r>
          </a:p>
          <a:p>
            <a:pPr>
              <a:spcBef>
                <a:spcPts val="600"/>
              </a:spcBef>
              <a:defRPr sz="900">
                <a:solidFill>
                  <a:srgbClr val="0F172A"/>
                </a:solidFill>
              </a:defRPr>
            </a:pPr>
            <a:r>
              <a:t>• DTO Validation Pipe: Global ValidationPipe with 'whitelist: true' and 'transform: true' to automatically strip unauthorized payload properties and cast types.</a:t>
            </a:r>
          </a:p>
          <a:p>
            <a:pPr>
              <a:spcBef>
                <a:spcPts val="600"/>
              </a:spcBef>
              <a:defRPr sz="900">
                <a:solidFill>
                  <a:srgbClr val="0F172A"/>
                </a:solidFill>
              </a:defRPr>
            </a:pPr>
            <a:r>
              <a:t>• CORS Security Policy: Configured in main.ts with strict origin whitelisting for Angular frontend localhost:4200 and production domain.</a:t>
            </a:r>
          </a:p>
          <a:p>
            <a:pPr>
              <a:spcBef>
                <a:spcPts val="600"/>
              </a:spcBef>
              <a:defRPr sz="900">
                <a:solidFill>
                  <a:srgbClr val="0F172A"/>
                </a:solidFill>
              </a:defRPr>
            </a:pPr>
            <a:r>
              <a:t>• Static Asset Serving: NestExpressApplication useStaticAssets maps physical './uploads/' directory to public '/uploads/' HTTP endpoints.</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63040"/>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a clean screenshot of the NestJS modular architecture diagram or code snippet from backend/src/app.module.ts and main.ts highlighting TypeOrmModule, ThrottlerModule, CORS whitelist, and ValidationPipe registration.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04 | DATA PERSISTENCE</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Relational Data Model &amp; Lifecycle Auto-Seeding</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ENTITY RELATIONSHIPS &amp; DATA LIFECYCLE</a:t>
            </a:r>
          </a:p>
          <a:p>
            <a:pPr>
              <a:spcBef>
                <a:spcPts val="800"/>
              </a:spcBef>
              <a:defRPr sz="919">
                <a:solidFill>
                  <a:srgbClr val="0F172A"/>
                </a:solidFill>
              </a:defRPr>
            </a:pPr>
            <a:r>
              <a:t>• Project Entity: Primary table holding title, category, location, completion year, description, and the unique 3D spatial slot 'cubeIndex'.</a:t>
            </a:r>
          </a:p>
          <a:p>
            <a:pPr>
              <a:spcBef>
                <a:spcPts val="800"/>
              </a:spcBef>
              <a:defRPr sz="919">
                <a:solidFill>
                  <a:srgbClr val="0F172A"/>
                </a:solidFill>
              </a:defRPr>
            </a:pPr>
            <a:r>
              <a:t>• ProjectImage Entity: @OneToMany / @ManyToOne relation with Project, featuring 'cascade: true', 'eager: true', and an 'isCover' boolean synced to thumbnailUrl.</a:t>
            </a:r>
          </a:p>
          <a:p>
            <a:pPr>
              <a:spcBef>
                <a:spcPts val="800"/>
              </a:spcBef>
              <a:defRPr sz="919">
                <a:solidFill>
                  <a:srgbClr val="0F172A"/>
                </a:solidFill>
              </a:defRPr>
            </a:pPr>
            <a:r>
              <a:t>• Contact Entity: Stores client architectural inquiries with validated sender name, email, message, and created_at timestamps.</a:t>
            </a:r>
          </a:p>
          <a:p>
            <a:pPr>
              <a:spcBef>
                <a:spcPts val="800"/>
              </a:spcBef>
              <a:defRPr sz="919">
                <a:solidFill>
                  <a:srgbClr val="0F172A"/>
                </a:solidFill>
              </a:defRPr>
            </a:pPr>
            <a:r>
              <a:t>• User Entity: Stores administrative credentials with high-entropy bcrypt salted password hashes (10 rounds).</a:t>
            </a:r>
          </a:p>
          <a:p>
            <a:pPr>
              <a:spcBef>
                <a:spcPts val="800"/>
              </a:spcBef>
              <a:defRPr sz="919">
                <a:solidFill>
                  <a:srgbClr val="0F172A"/>
                </a:solidFill>
              </a:defRPr>
            </a:pPr>
            <a:r>
              <a:t>• Lifecycle Auto-Seeder (OnModuleInit): Integrated in ProjectsService.onModuleInit(). Verifies database table record count upon startup. If empty, automatically seeds 5 realistic architectural projects and admin account without requiring manual SQL imports.</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63040"/>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the Entity Relationship Diagram (ERD) or code snippet from backend/src/projects/project.entity.ts displaying TypeORM decorators (@Entity, @PrimaryGeneratedColumn, @Column, @OneToMany, cascade: true).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05 | CORE ALGORITHM</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Key Technical Challenge: 3D Spatial Slot Coordination</a:t>
            </a:r>
          </a:p>
        </p:txBody>
      </p:sp>
      <p:sp>
        <p:nvSpPr>
          <p:cNvPr id="4" name="Rectangle 3"/>
          <p:cNvSpPr/>
          <p:nvPr/>
        </p:nvSpPr>
        <p:spPr>
          <a:xfrm>
            <a:off x="731520" y="1280160"/>
            <a:ext cx="10698480" cy="10515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53312"/>
            <a:ext cx="10332720" cy="868680"/>
          </a:xfrm>
          <a:prstGeom prst="rect">
            <a:avLst/>
          </a:prstGeom>
          <a:noFill/>
        </p:spPr>
        <p:txBody>
          <a:bodyPr wrap="square">
            <a:spAutoFit/>
          </a:bodyPr>
          <a:lstStyle/>
          <a:p>
            <a:pPr>
              <a:defRPr sz="1000" b="1">
                <a:solidFill>
                  <a:srgbClr val="0284C7"/>
                </a:solidFill>
              </a:defRPr>
            </a:pPr>
            <a:r>
              <a:t>THE SPATIAL COORDINATION CHALLENGE</a:t>
            </a:r>
          </a:p>
          <a:p>
            <a:pPr>
              <a:spcBef>
                <a:spcPts val="200"/>
              </a:spcBef>
              <a:defRPr sz="950">
                <a:solidFill>
                  <a:srgbClr val="0F172A"/>
                </a:solidFill>
              </a:defRPr>
            </a:pPr>
            <a:r>
              <a:t>The frontend Three.js spatial field renders 55 discrete 3D wireframe cubes in dynamic 3D space. Each project can occupy one spatial portal (cubeIndex 0–54). A critical business rule requires that two projects must NEVER claim the same cubeIndex simultaneously, as this causes WebGL mesh coordinate collisions and broken hover routing.</a:t>
            </a:r>
          </a:p>
        </p:txBody>
      </p:sp>
      <p:sp>
        <p:nvSpPr>
          <p:cNvPr id="6" name="Rectangle 5"/>
          <p:cNvSpPr/>
          <p:nvPr/>
        </p:nvSpPr>
        <p:spPr>
          <a:xfrm>
            <a:off x="731520" y="2468880"/>
            <a:ext cx="502920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606040"/>
            <a:ext cx="4663440" cy="3566160"/>
          </a:xfrm>
          <a:prstGeom prst="rect">
            <a:avLst/>
          </a:prstGeom>
          <a:noFill/>
        </p:spPr>
        <p:txBody>
          <a:bodyPr wrap="square">
            <a:spAutoFit/>
          </a:bodyPr>
          <a:lstStyle/>
          <a:p>
            <a:pPr>
              <a:defRPr sz="1100" b="1">
                <a:solidFill>
                  <a:srgbClr val="0284C7"/>
                </a:solidFill>
              </a:defRPr>
            </a:pPr>
            <a:r>
              <a:t>ALGORITHMIC SOLUTION: handleCubeIndexConflict</a:t>
            </a:r>
          </a:p>
          <a:p>
            <a:pPr>
              <a:spcBef>
                <a:spcPts val="600"/>
              </a:spcBef>
              <a:defRPr sz="919">
                <a:solidFill>
                  <a:srgbClr val="0F172A"/>
                </a:solidFill>
              </a:defRPr>
            </a:pPr>
            <a:r>
              <a:t>• Targeted Querying: When creating or updating a project, the algorithm checks if the desired cubeIndex is already claimed.</a:t>
            </a:r>
          </a:p>
          <a:p>
            <a:pPr>
              <a:spcBef>
                <a:spcPts val="600"/>
              </a:spcBef>
              <a:defRPr sz="919">
                <a:solidFill>
                  <a:srgbClr val="0F172A"/>
                </a:solidFill>
              </a:defRPr>
            </a:pPr>
            <a:r>
              <a:t>• Self-Exclusion via TypeORM Not(): When updating, it uses 'id: Not(currentProjectId)' to ensure the project doesn't conflict with itself.</a:t>
            </a:r>
          </a:p>
          <a:p>
            <a:pPr>
              <a:spcBef>
                <a:spcPts val="600"/>
              </a:spcBef>
              <a:defRPr sz="919">
                <a:solidFill>
                  <a:srgbClr val="0F172A"/>
                </a:solidFill>
              </a:defRPr>
            </a:pPr>
            <a:r>
              <a:t>• Atomic Conflict Disassociation: If an existing project occupies the slot, its cubeIndex is set to null and saved, gracefully ejecting it from the 3D canvas.</a:t>
            </a:r>
          </a:p>
          <a:p>
            <a:pPr>
              <a:spcBef>
                <a:spcPts val="600"/>
              </a:spcBef>
              <a:defRPr sz="919">
                <a:solidFill>
                  <a:srgbClr val="0F172A"/>
                </a:solidFill>
              </a:defRPr>
            </a:pPr>
            <a:r>
              <a:t>• Deterministic Slot Assignment: The new project claims the slot with guaranteed uniqueness, maintaining perfect synchronization with the frontend Three.js raycaster.</a:t>
            </a:r>
          </a:p>
        </p:txBody>
      </p:sp>
      <p:sp>
        <p:nvSpPr>
          <p:cNvPr id="8" name="Rectangle 7"/>
          <p:cNvSpPr/>
          <p:nvPr/>
        </p:nvSpPr>
        <p:spPr>
          <a:xfrm>
            <a:off x="6035040" y="2468880"/>
            <a:ext cx="5394960" cy="3840480"/>
          </a:xfrm>
          <a:prstGeom prst="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2606040"/>
            <a:ext cx="5120640" cy="3566160"/>
          </a:xfrm>
          <a:prstGeom prst="rect">
            <a:avLst/>
          </a:prstGeom>
          <a:noFill/>
        </p:spPr>
        <p:txBody>
          <a:bodyPr wrap="square">
            <a:spAutoFit/>
          </a:bodyPr>
          <a:lstStyle/>
          <a:p>
            <a:pPr>
              <a:defRPr sz="850">
                <a:solidFill>
                  <a:srgbClr val="94A3B8"/>
                </a:solidFill>
                <a:latin typeface="Consolas"/>
              </a:defRPr>
            </a:pPr>
            <a:r>
              <a:t>// backend/src/projects/projects.service.ts</a:t>
            </a:r>
          </a:p>
          <a:p>
            <a:pPr>
              <a:defRPr sz="850">
                <a:solidFill>
                  <a:srgbClr val="38BDF8"/>
                </a:solidFill>
                <a:latin typeface="Consolas"/>
              </a:defRPr>
            </a:pPr>
            <a:r>
              <a:t>async handleCubeIndexConflict(</a:t>
            </a:r>
          </a:p>
          <a:p>
            <a:pPr>
              <a:defRPr sz="850">
                <a:solidFill>
                  <a:srgbClr val="F1F5F9"/>
                </a:solidFill>
                <a:latin typeface="Consolas"/>
              </a:defRPr>
            </a:pPr>
            <a:r>
              <a:t>  cubeIndex: number | null | undefined,</a:t>
            </a:r>
          </a:p>
          <a:p>
            <a:pPr>
              <a:defRPr sz="850">
                <a:solidFill>
                  <a:srgbClr val="F1F5F9"/>
                </a:solidFill>
                <a:latin typeface="Consolas"/>
              </a:defRPr>
            </a:pPr>
            <a:r>
              <a:t>  currentProjectId?: number</a:t>
            </a:r>
          </a:p>
          <a:p>
            <a:pPr>
              <a:defRPr sz="850">
                <a:solidFill>
                  <a:srgbClr val="F1F5F9"/>
                </a:solidFill>
                <a:latin typeface="Consolas"/>
              </a:defRPr>
            </a:pPr>
            <a:r>
              <a:t>) {</a:t>
            </a:r>
          </a:p>
          <a:p>
            <a:pPr>
              <a:defRPr sz="850">
                <a:solidFill>
                  <a:srgbClr val="F1F5F9"/>
                </a:solidFill>
                <a:latin typeface="Consolas"/>
              </a:defRPr>
            </a:pPr>
            <a:r>
              <a:t>  if (cubeIndex !== null &amp;&amp; cubeIndex !== undefined) {</a:t>
            </a:r>
          </a:p>
          <a:p>
            <a:pPr>
              <a:defRPr sz="850">
                <a:solidFill>
                  <a:srgbClr val="F1F5F9"/>
                </a:solidFill>
                <a:latin typeface="Consolas"/>
              </a:defRPr>
            </a:pPr>
            <a:r>
              <a:t>    const whereCondition = currentProjectId</a:t>
            </a:r>
          </a:p>
          <a:p>
            <a:pPr>
              <a:defRPr sz="850">
                <a:solidFill>
                  <a:srgbClr val="38BDF8"/>
                </a:solidFill>
                <a:latin typeface="Consolas"/>
              </a:defRPr>
            </a:pPr>
            <a:r>
              <a:t>      ? { cubeIndex, id: Not(currentProjectId) }</a:t>
            </a:r>
          </a:p>
          <a:p>
            <a:pPr>
              <a:defRPr sz="850">
                <a:solidFill>
                  <a:srgbClr val="F1F5F9"/>
                </a:solidFill>
                <a:latin typeface="Consolas"/>
              </a:defRPr>
            </a:pPr>
            <a:r>
              <a:t>      : { cubeIndex };</a:t>
            </a:r>
          </a:p>
          <a:p>
            <a:pPr>
              <a:defRPr sz="850">
                <a:solidFill>
                  <a:srgbClr val="F1F5F9"/>
                </a:solidFill>
                <a:latin typeface="Consolas"/>
              </a:defRPr>
            </a:pPr>
            <a:r>
              <a:t>    </a:t>
            </a:r>
          </a:p>
          <a:p>
            <a:pPr>
              <a:defRPr sz="850">
                <a:solidFill>
                  <a:srgbClr val="F1F5F9"/>
                </a:solidFill>
                <a:latin typeface="Consolas"/>
              </a:defRPr>
            </a:pPr>
            <a:r>
              <a:t>    const conflictingProject = await this.projectRepository</a:t>
            </a:r>
          </a:p>
          <a:p>
            <a:pPr>
              <a:defRPr sz="850">
                <a:solidFill>
                  <a:srgbClr val="F1F5F9"/>
                </a:solidFill>
                <a:latin typeface="Consolas"/>
              </a:defRPr>
            </a:pPr>
            <a:r>
              <a:t>      .findOne({ where: whereCondition });</a:t>
            </a:r>
          </a:p>
          <a:p>
            <a:pPr>
              <a:defRPr sz="850">
                <a:solidFill>
                  <a:srgbClr val="F1F5F9"/>
                </a:solidFill>
                <a:latin typeface="Consolas"/>
              </a:defRPr>
            </a:pPr>
            <a:r>
              <a:t>    </a:t>
            </a:r>
          </a:p>
          <a:p>
            <a:pPr>
              <a:defRPr sz="850">
                <a:solidFill>
                  <a:srgbClr val="F1F5F9"/>
                </a:solidFill>
                <a:latin typeface="Consolas"/>
              </a:defRPr>
            </a:pPr>
            <a:r>
              <a:t>    if (conflictingProject) {</a:t>
            </a:r>
          </a:p>
          <a:p>
            <a:pPr>
              <a:defRPr sz="850">
                <a:solidFill>
                  <a:srgbClr val="F1F5F9"/>
                </a:solidFill>
                <a:latin typeface="Consolas"/>
              </a:defRPr>
            </a:pPr>
            <a:r>
              <a:t>      conflictingProject.cubeIndex = null;</a:t>
            </a:r>
          </a:p>
          <a:p>
            <a:pPr>
              <a:defRPr sz="850">
                <a:solidFill>
                  <a:srgbClr val="F1F5F9"/>
                </a:solidFill>
                <a:latin typeface="Consolas"/>
              </a:defRPr>
            </a:pPr>
            <a:r>
              <a:t>      await this.projectRepository.save(conflictingProject);</a:t>
            </a:r>
          </a:p>
          <a:p>
            <a:pPr>
              <a:defRPr sz="850">
                <a:solidFill>
                  <a:srgbClr val="F1F5F9"/>
                </a:solidFill>
                <a:latin typeface="Consolas"/>
              </a:defRPr>
            </a:pPr>
            <a:r>
              <a:t>    }</a:t>
            </a:r>
          </a:p>
          <a:p>
            <a:pPr>
              <a:defRPr sz="850">
                <a:solidFill>
                  <a:srgbClr val="F1F5F9"/>
                </a:solidFill>
                <a:latin typeface="Consolas"/>
              </a:defRPr>
            </a:pPr>
            <a:r>
              <a:t>  }</a:t>
            </a:r>
          </a:p>
          <a:p>
            <a:pPr>
              <a:defRPr sz="850">
                <a:solidFill>
                  <a:srgbClr val="F1F5F9"/>
                </a:solidFill>
                <a:latin typeface="Consolas"/>
              </a:defRPr>
            </a:pPr>
            <a: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06 | COMMUNICATION &amp; SECURITY</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Client Inquiry Pipeline, SMTP Mailer &amp; Route Protection</a:t>
            </a:r>
          </a:p>
        </p:txBody>
      </p:sp>
      <p:sp>
        <p:nvSpPr>
          <p:cNvPr id="4" name="Rectangle 3"/>
          <p:cNvSpPr/>
          <p:nvPr/>
        </p:nvSpPr>
        <p:spPr>
          <a:xfrm>
            <a:off x="731520" y="1280160"/>
            <a:ext cx="5029200" cy="50292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663440" cy="4754880"/>
          </a:xfrm>
          <a:prstGeom prst="rect">
            <a:avLst/>
          </a:prstGeom>
          <a:noFill/>
        </p:spPr>
        <p:txBody>
          <a:bodyPr wrap="square">
            <a:spAutoFit/>
          </a:bodyPr>
          <a:lstStyle/>
          <a:p>
            <a:pPr>
              <a:defRPr sz="1100" b="1">
                <a:solidFill>
                  <a:srgbClr val="0284C7"/>
                </a:solidFill>
              </a:defRPr>
            </a:pPr>
            <a:r>
              <a:t>DUAL EMAIL DISPATCH &amp; AUTHENTICATION</a:t>
            </a:r>
          </a:p>
          <a:p>
            <a:pPr>
              <a:spcBef>
                <a:spcPts val="500"/>
              </a:spcBef>
              <a:defRPr sz="900">
                <a:solidFill>
                  <a:srgbClr val="0F172A"/>
                </a:solidFill>
              </a:defRPr>
            </a:pPr>
            <a:r>
              <a:t>• Input Validation via class-validator: CreateContactDto strictly enforces @IsNotEmpty(), @IsEmail(), and @Length() constraints before processing.</a:t>
            </a:r>
          </a:p>
          <a:p>
            <a:pPr>
              <a:spcBef>
                <a:spcPts val="500"/>
              </a:spcBef>
              <a:defRPr sz="900">
                <a:solidFill>
                  <a:srgbClr val="0F172A"/>
                </a:solidFill>
              </a:defRPr>
            </a:pPr>
            <a:r>
              <a:t>• Asynchronous Dual Nodemailer Dispatch: Upon saving inquiry to SQLite, MailModule triggers two non-blocking email dispatches:</a:t>
            </a:r>
          </a:p>
          <a:p>
            <a:pPr>
              <a:spcBef>
                <a:spcPts val="500"/>
              </a:spcBef>
              <a:defRPr sz="900">
                <a:solidFill>
                  <a:srgbClr val="0F172A"/>
                </a:solidFill>
              </a:defRPr>
            </a:pPr>
            <a:r>
              <a:t>   1. Studio Admin Notification: Dispatches full inquiry details to studio email (gusari2271@gmail.com) with replyTo automatically configured to client's email.</a:t>
            </a:r>
          </a:p>
          <a:p>
            <a:pPr>
              <a:spcBef>
                <a:spcPts val="500"/>
              </a:spcBef>
              <a:defRPr sz="900">
                <a:solidFill>
                  <a:srgbClr val="0F172A"/>
                </a:solidFill>
              </a:defRPr>
            </a:pPr>
            <a:r>
              <a:t>   2. Client Automated Confirmation: Sends an official branded receipt confirmation back to the prospective client.</a:t>
            </a:r>
          </a:p>
          <a:p>
            <a:pPr>
              <a:spcBef>
                <a:spcPts val="500"/>
              </a:spcBef>
              <a:defRPr sz="900">
                <a:solidFill>
                  <a:srgbClr val="0F172A"/>
                </a:solidFill>
              </a:defRPr>
            </a:pPr>
            <a:r>
              <a:t>• Simulation Fallback Mode: If SMTP credentials are not yet set in .env, MailService logs formatted dispatch previews to the terminal without crashing.</a:t>
            </a:r>
          </a:p>
          <a:p>
            <a:pPr>
              <a:spcBef>
                <a:spcPts val="500"/>
              </a:spcBef>
              <a:defRPr sz="900">
                <a:solidFill>
                  <a:srgbClr val="0F172A"/>
                </a:solidFill>
              </a:defRPr>
            </a:pPr>
            <a:r>
              <a:t>• Administrative Route Protection: Passport.js JwtStrategy validates Bearer tokens. JwtAuthGuard guards all mutation routes (POST, PUT, DELETE), returning 401 Unauthorized for unauthenticated requests.</a:t>
            </a:r>
          </a:p>
        </p:txBody>
      </p:sp>
      <p:sp>
        <p:nvSpPr>
          <p:cNvPr id="6" name="Rectangle 5"/>
          <p:cNvSpPr/>
          <p:nvPr/>
        </p:nvSpPr>
        <p:spPr>
          <a:xfrm>
            <a:off x="6035040" y="1280160"/>
            <a:ext cx="5394960" cy="502920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463040"/>
            <a:ext cx="5394960" cy="384048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6172200" y="5257800"/>
            <a:ext cx="512064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a code screenshot of backend/src/contact/contact.service.ts showing sendContactInquiryNotification and sendContactFormConfirmation dispatch, or a screenshot of incoming test emails in the inbox / terminal console dispatch logs.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07 | FULL-STACK INTEGRATION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Frontend Integration &amp; Interactive 3D Interface Showcase</a:t>
            </a:r>
          </a:p>
        </p:txBody>
      </p:sp>
      <p:sp>
        <p:nvSpPr>
          <p:cNvPr id="4" name="Rectangle 3"/>
          <p:cNvSpPr/>
          <p:nvPr/>
        </p:nvSpPr>
        <p:spPr>
          <a:xfrm>
            <a:off x="731520" y="1280160"/>
            <a:ext cx="10698480" cy="960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53312"/>
            <a:ext cx="10332720" cy="777240"/>
          </a:xfrm>
          <a:prstGeom prst="rect">
            <a:avLst/>
          </a:prstGeom>
          <a:noFill/>
        </p:spPr>
        <p:txBody>
          <a:bodyPr wrap="square">
            <a:spAutoFit/>
          </a:bodyPr>
          <a:lstStyle/>
          <a:p>
            <a:pPr>
              <a:defRPr sz="1000" b="1">
                <a:solidFill>
                  <a:srgbClr val="0284C7"/>
                </a:solidFill>
              </a:defRPr>
            </a:pPr>
            <a:r>
              <a:t>ANGULAR 18 &amp; THREE.JS INTERACTION ARCHITECTURE</a:t>
            </a:r>
          </a:p>
          <a:p>
            <a:pPr>
              <a:spcBef>
                <a:spcPts val="200"/>
              </a:spcBef>
              <a:defRPr sz="850">
                <a:solidFill>
                  <a:srgbClr val="0F172A"/>
                </a:solidFill>
              </a:defRPr>
            </a:pPr>
            <a:r>
              <a:t>• Frontend Developed by Kevin Wiratama: Consumes NestJS REST endpoints via Angular HttpClient with JWT Bearer Interceptors.</a:t>
            </a:r>
            <a:br/>
            <a:r>
              <a:t>• Bilingual Localization: English and Chinese (Mandarin) architectural specifications rendered dynamically from backend fields.</a:t>
            </a:r>
            <a:br/>
            <a:r>
              <a:t>• Three.js Spatial Engine: Raycasting collision detection, glassmorphism hover tooltips, and seamless click routing to project details.</a:t>
            </a:r>
          </a:p>
        </p:txBody>
      </p:sp>
      <p:sp>
        <p:nvSpPr>
          <p:cNvPr id="6" name="Rectangle 5"/>
          <p:cNvSpPr/>
          <p:nvPr/>
        </p:nvSpPr>
        <p:spPr>
          <a:xfrm>
            <a:off x="731520" y="2377440"/>
            <a:ext cx="5212080" cy="393192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560320"/>
            <a:ext cx="5212080" cy="274320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8" name="TextBox 7"/>
          <p:cNvSpPr txBox="1"/>
          <p:nvPr/>
        </p:nvSpPr>
        <p:spPr>
          <a:xfrm>
            <a:off x="868680" y="5257800"/>
            <a:ext cx="493776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screenshot of the public Home/Manifestation page showing the interactive Three.js 3D spatial cube canvas in an active hovered state displaying project title, category, and cube index.</a:t>
            </a:r>
          </a:p>
        </p:txBody>
      </p:sp>
      <p:sp>
        <p:nvSpPr>
          <p:cNvPr id="9" name="Rectangle 8"/>
          <p:cNvSpPr/>
          <p:nvPr/>
        </p:nvSpPr>
        <p:spPr>
          <a:xfrm>
            <a:off x="6217920" y="2377440"/>
            <a:ext cx="5212080" cy="3931920"/>
          </a:xfrm>
          <a:prstGeom prst="rect">
            <a:avLst/>
          </a:prstGeom>
          <a:solidFill>
            <a:srgbClr val="F1F5F9"/>
          </a:solidFill>
          <a:ln w="1270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0" y="2560320"/>
            <a:ext cx="5212080" cy="2743200"/>
          </a:xfrm>
          <a:prstGeom prst="rect">
            <a:avLst/>
          </a:prstGeom>
          <a:noFill/>
        </p:spPr>
        <p:txBody>
          <a:bodyPr wrap="square">
            <a:spAutoFit/>
          </a:bodyPr>
          <a:lstStyle/>
          <a:p>
            <a:pPr algn="ctr">
              <a:defRPr sz="1200" b="1">
                <a:solidFill>
                  <a:srgbClr val="0284C7"/>
                </a:solidFill>
              </a:defRPr>
            </a:pPr>
            <a:r>
              <a:t>[IMAGE / SCREENSHOT PLACEHOLDER]</a:t>
            </a:r>
          </a:p>
          <a:p>
            <a:pPr algn="ctr">
              <a:defRPr sz="950">
                <a:solidFill>
                  <a:srgbClr val="64748B"/>
                </a:solidFill>
              </a:defRPr>
            </a:pPr>
            <a:r>
              <a:t>Click to attach presentation image</a:t>
            </a:r>
          </a:p>
        </p:txBody>
      </p:sp>
      <p:sp>
        <p:nvSpPr>
          <p:cNvPr id="11" name="TextBox 10"/>
          <p:cNvSpPr txBox="1"/>
          <p:nvPr/>
        </p:nvSpPr>
        <p:spPr>
          <a:xfrm>
            <a:off x="6355080" y="5257800"/>
            <a:ext cx="4937760" cy="960120"/>
          </a:xfrm>
          <a:prstGeom prst="rect">
            <a:avLst/>
          </a:prstGeom>
          <a:noFill/>
        </p:spPr>
        <p:txBody>
          <a:bodyPr wrap="square" lIns="0" tIns="0" rIns="0" bIns="0">
            <a:spAutoFit/>
          </a:bodyPr>
          <a:lstStyle/>
          <a:p>
            <a:pPr>
              <a:defRPr sz="850" b="1">
                <a:solidFill>
                  <a:srgbClr val="0F172A"/>
                </a:solidFill>
              </a:defRPr>
            </a:pPr>
            <a:r>
              <a:t>Screenshot Guide &amp; Description:</a:t>
            </a:r>
          </a:p>
          <a:p>
            <a:pPr>
              <a:defRPr sz="800">
                <a:solidFill>
                  <a:srgbClr val="64748B"/>
                </a:solidFill>
              </a:defRPr>
            </a:pPr>
            <a:r>
              <a:t>Insert screenshot of the Admin Dashboard (/admin/dashboard) displaying the project catalog table, multi-image upload dropzone, and 3D cube index assignment dropdown.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08 | PROBLEM SOLVING &amp; QUALITY ASSURANCE</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Engineering Diagnosis: Admin Partial Update Bug Isolation</a:t>
            </a:r>
          </a:p>
        </p:txBody>
      </p:sp>
      <p:sp>
        <p:nvSpPr>
          <p:cNvPr id="4" name="Rectangle 3"/>
          <p:cNvSpPr/>
          <p:nvPr/>
        </p:nvSpPr>
        <p:spPr>
          <a:xfrm>
            <a:off x="731520" y="1280160"/>
            <a:ext cx="3383280" cy="4023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63040"/>
            <a:ext cx="3054096" cy="3657600"/>
          </a:xfrm>
          <a:prstGeom prst="rect">
            <a:avLst/>
          </a:prstGeom>
          <a:noFill/>
        </p:spPr>
        <p:txBody>
          <a:bodyPr wrap="square">
            <a:spAutoFit/>
          </a:bodyPr>
          <a:lstStyle/>
          <a:p>
            <a:pPr>
              <a:defRPr sz="1000" b="1">
                <a:solidFill>
                  <a:srgbClr val="0284C7"/>
                </a:solidFill>
              </a:defRPr>
            </a:pPr>
            <a:r>
              <a:t>1. SYMPTOM &amp; INVESTIGATION</a:t>
            </a:r>
          </a:p>
          <a:p>
            <a:pPr>
              <a:spcBef>
                <a:spcPts val="800"/>
              </a:spcBef>
              <a:defRPr sz="900">
                <a:solidFill>
                  <a:srgbClr val="0F172A"/>
                </a:solidFill>
              </a:defRPr>
            </a:pPr>
            <a:r>
              <a:t>• Intermittent Error on PUT /projects/:id when updating text descriptions and replacing gallery images in a single payload.</a:t>
            </a:r>
          </a:p>
          <a:p>
            <a:pPr>
              <a:spcBef>
                <a:spcPts val="800"/>
              </a:spcBef>
              <a:defRPr sz="900">
                <a:solidFill>
                  <a:srgbClr val="0F172A"/>
                </a:solidFill>
              </a:defRPr>
            </a:pPr>
            <a:r>
              <a:t>• Systematic Postman batch testing isolated the defect away from controller routes and validation pipes.</a:t>
            </a:r>
          </a:p>
          <a:p>
            <a:pPr>
              <a:spcBef>
                <a:spcPts val="800"/>
              </a:spcBef>
              <a:defRPr sz="900">
                <a:solidFill>
                  <a:srgbClr val="0F172A"/>
                </a:solidFill>
              </a:defRPr>
            </a:pPr>
            <a:r>
              <a:t>• NestJS application trace logs confirmed the error originated strictly within the TypeORM entity persistence layer.</a:t>
            </a:r>
          </a:p>
        </p:txBody>
      </p:sp>
      <p:sp>
        <p:nvSpPr>
          <p:cNvPr id="6" name="Rectangle 5"/>
          <p:cNvSpPr/>
          <p:nvPr/>
        </p:nvSpPr>
        <p:spPr>
          <a:xfrm>
            <a:off x="4389120" y="1280160"/>
            <a:ext cx="3383280" cy="4023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463040"/>
            <a:ext cx="3054096" cy="3657600"/>
          </a:xfrm>
          <a:prstGeom prst="rect">
            <a:avLst/>
          </a:prstGeom>
          <a:noFill/>
        </p:spPr>
        <p:txBody>
          <a:bodyPr wrap="square">
            <a:spAutoFit/>
          </a:bodyPr>
          <a:lstStyle/>
          <a:p>
            <a:pPr>
              <a:defRPr sz="1000" b="1">
                <a:solidFill>
                  <a:srgbClr val="F59E0B"/>
                </a:solidFill>
              </a:defRPr>
            </a:pPr>
            <a:r>
              <a:t>2. ROOT CAUSE IDENTIFIED</a:t>
            </a:r>
          </a:p>
          <a:p>
            <a:pPr>
              <a:spcBef>
                <a:spcPts val="800"/>
              </a:spcBef>
              <a:defRPr sz="900">
                <a:solidFill>
                  <a:srgbClr val="0F172A"/>
                </a:solidFill>
              </a:defRPr>
            </a:pPr>
            <a:r>
              <a:t>• Concurrency clash between Multer disk file streaming and the 'keepImageIds' child entity filter.</a:t>
            </a:r>
          </a:p>
          <a:p>
            <a:pPr>
              <a:spcBef>
                <a:spcPts val="800"/>
              </a:spcBef>
              <a:defRPr sz="900">
                <a:solidFill>
                  <a:srgbClr val="0F172A"/>
                </a:solidFill>
              </a:defRPr>
            </a:pPr>
            <a:r>
              <a:t>• TypeORM cascade reconciliation attempted to persist the parent Project while child ProjectImage entities were temporarily in detached state.</a:t>
            </a:r>
          </a:p>
          <a:p>
            <a:pPr>
              <a:spcBef>
                <a:spcPts val="800"/>
              </a:spcBef>
              <a:defRPr sz="900">
                <a:solidFill>
                  <a:srgbClr val="0F172A"/>
                </a:solidFill>
              </a:defRPr>
            </a:pPr>
            <a:r>
              <a:t>• Entity state mismatch caused SQLite relational constraint conflicts during complex multi-part updates.</a:t>
            </a:r>
          </a:p>
        </p:txBody>
      </p:sp>
      <p:sp>
        <p:nvSpPr>
          <p:cNvPr id="8" name="Rectangle 7"/>
          <p:cNvSpPr/>
          <p:nvPr/>
        </p:nvSpPr>
        <p:spPr>
          <a:xfrm>
            <a:off x="8046720" y="1280160"/>
            <a:ext cx="3383280" cy="402336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463040"/>
            <a:ext cx="3054096" cy="3657600"/>
          </a:xfrm>
          <a:prstGeom prst="rect">
            <a:avLst/>
          </a:prstGeom>
          <a:noFill/>
        </p:spPr>
        <p:txBody>
          <a:bodyPr wrap="square">
            <a:spAutoFit/>
          </a:bodyPr>
          <a:lstStyle/>
          <a:p>
            <a:pPr>
              <a:defRPr sz="1000" b="1">
                <a:solidFill>
                  <a:srgbClr val="0EA5E9"/>
                </a:solidFill>
              </a:defRPr>
            </a:pPr>
            <a:r>
              <a:t>3. MITIGATION &amp; ISOLATION</a:t>
            </a:r>
          </a:p>
          <a:p>
            <a:pPr>
              <a:spcBef>
                <a:spcPts val="800"/>
              </a:spcBef>
              <a:defRPr sz="900">
                <a:solidFill>
                  <a:srgbClr val="0F172A"/>
                </a:solidFill>
              </a:defRPr>
            </a:pPr>
            <a:r>
              <a:t>• Engineered a transaction refactor using explicit TypeORM QueryRunner to ensure atomic commit or rollback.</a:t>
            </a:r>
          </a:p>
          <a:p>
            <a:pPr>
              <a:spcBef>
                <a:spcPts val="800"/>
              </a:spcBef>
              <a:defRPr sz="900">
                <a:solidFill>
                  <a:srgbClr val="0F172A"/>
                </a:solidFill>
              </a:defRPr>
            </a:pPr>
            <a:r>
              <a:t>• Implemented fallback image retention logic to prevent accidental image orphaned files on disk.</a:t>
            </a:r>
          </a:p>
          <a:p>
            <a:pPr>
              <a:spcBef>
                <a:spcPts val="800"/>
              </a:spcBef>
              <a:defRPr sz="900">
                <a:solidFill>
                  <a:srgbClr val="0F172A"/>
                </a:solidFill>
              </a:defRPr>
            </a:pPr>
            <a:r>
              <a:t>• Strict Boundary Isolation: Public routes, 3D spatial scene, and contact form operate at 100% stability with zero impact.</a:t>
            </a:r>
          </a:p>
        </p:txBody>
      </p:sp>
      <p:sp>
        <p:nvSpPr>
          <p:cNvPr id="10" name="Rectangle 9"/>
          <p:cNvSpPr/>
          <p:nvPr/>
        </p:nvSpPr>
        <p:spPr>
          <a:xfrm>
            <a:off x="731520" y="5486400"/>
            <a:ext cx="10698480" cy="868680"/>
          </a:xfrm>
          <a:prstGeom prst="rect">
            <a:avLst/>
          </a:prstGeom>
          <a:solidFill>
            <a:srgbClr val="1E293B"/>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577840"/>
            <a:ext cx="10332720" cy="685800"/>
          </a:xfrm>
          <a:prstGeom prst="rect">
            <a:avLst/>
          </a:prstGeom>
          <a:noFill/>
        </p:spPr>
        <p:txBody>
          <a:bodyPr wrap="square">
            <a:spAutoFit/>
          </a:bodyPr>
          <a:lstStyle/>
          <a:p>
            <a:pPr>
              <a:defRPr sz="950" b="1">
                <a:solidFill>
                  <a:srgbClr val="0EA5E9"/>
                </a:solidFill>
              </a:defRPr>
            </a:pPr>
            <a:r>
              <a:t>OPERATIONAL BOUNDARY &amp; MATURITY REFLECTION:</a:t>
            </a:r>
          </a:p>
          <a:p>
            <a:pPr>
              <a:spcBef>
                <a:spcPts val="200"/>
              </a:spcBef>
              <a:defRPr sz="880">
                <a:solidFill>
                  <a:srgbClr val="FFFFFF"/>
                </a:solidFill>
              </a:defRPr>
            </a:pPr>
            <a:r>
              <a:t>Transparent defect reporting and systematic root-cause isolation demonstrate genuine engineering maturity. The defect is fully understood, strictly bounded to administrative edge-case batch updates, and documented for transactional resolution.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7315200" cy="320040"/>
          </a:xfrm>
          <a:prstGeom prst="rect">
            <a:avLst/>
          </a:prstGeom>
          <a:noFill/>
        </p:spPr>
        <p:txBody>
          <a:bodyPr wrap="square" lIns="0" tIns="0" rIns="0" bIns="0">
            <a:spAutoFit/>
          </a:bodyPr>
          <a:lstStyle/>
          <a:p>
            <a:pPr>
              <a:defRPr sz="1000" b="1">
                <a:solidFill>
                  <a:srgbClr val="0284C7"/>
                </a:solidFill>
              </a:defRPr>
            </a:pPr>
            <a:r>
              <a:t>09 | REFLECTION &amp; CONCLUSION</a:t>
            </a:r>
          </a:p>
        </p:txBody>
      </p:sp>
      <p:sp>
        <p:nvSpPr>
          <p:cNvPr id="3" name="TextBox 2"/>
          <p:cNvSpPr txBox="1"/>
          <p:nvPr/>
        </p:nvSpPr>
        <p:spPr>
          <a:xfrm>
            <a:off x="731520" y="658368"/>
            <a:ext cx="10698480" cy="548640"/>
          </a:xfrm>
          <a:prstGeom prst="rect">
            <a:avLst/>
          </a:prstGeom>
          <a:noFill/>
        </p:spPr>
        <p:txBody>
          <a:bodyPr wrap="square" lIns="0" tIns="0" rIns="0" bIns="0">
            <a:spAutoFit/>
          </a:bodyPr>
          <a:lstStyle/>
          <a:p>
            <a:pPr>
              <a:defRPr sz="2200" b="1">
                <a:solidFill>
                  <a:srgbClr val="0F172A"/>
                </a:solidFill>
              </a:defRPr>
            </a:pPr>
            <a:r>
              <a:t>Conclusion, Professional Learnings &amp; Outcomes</a:t>
            </a:r>
          </a:p>
        </p:txBody>
      </p:sp>
      <p:sp>
        <p:nvSpPr>
          <p:cNvPr id="4" name="Rectangle 3"/>
          <p:cNvSpPr/>
          <p:nvPr/>
        </p:nvSpPr>
        <p:spPr>
          <a:xfrm>
            <a:off x="731520" y="1280160"/>
            <a:ext cx="33832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463040"/>
            <a:ext cx="3054096" cy="3749039"/>
          </a:xfrm>
          <a:prstGeom prst="rect">
            <a:avLst/>
          </a:prstGeom>
          <a:noFill/>
        </p:spPr>
        <p:txBody>
          <a:bodyPr wrap="square">
            <a:spAutoFit/>
          </a:bodyPr>
          <a:lstStyle/>
          <a:p>
            <a:pPr>
              <a:defRPr sz="1000" b="1">
                <a:solidFill>
                  <a:srgbClr val="0284C7"/>
                </a:solidFill>
              </a:defRPr>
            </a:pPr>
            <a:r>
              <a:t>KEY PROJECT ACHIEVEMENTS</a:t>
            </a:r>
          </a:p>
          <a:p>
            <a:pPr>
              <a:spcBef>
                <a:spcPts val="800"/>
              </a:spcBef>
              <a:defRPr sz="900">
                <a:solidFill>
                  <a:srgbClr val="0F172A"/>
                </a:solidFill>
              </a:defRPr>
            </a:pPr>
            <a:r>
              <a:t>• 100% Backend Deliverables completed, deployed, and seamlessly integrated with Angular 18 &amp; Three.js.</a:t>
            </a:r>
          </a:p>
          <a:p>
            <a:pPr>
              <a:spcBef>
                <a:spcPts val="800"/>
              </a:spcBef>
              <a:defRPr sz="900">
                <a:solidFill>
                  <a:srgbClr val="0F172A"/>
                </a:solidFill>
              </a:defRPr>
            </a:pPr>
            <a:r>
              <a:t>• Industry Evaluation: 94 / 100 (Grade: Excellent) awarded by Code Cipta development team supervisor.</a:t>
            </a:r>
          </a:p>
          <a:p>
            <a:pPr>
              <a:spcBef>
                <a:spcPts val="800"/>
              </a:spcBef>
              <a:defRPr sz="900">
                <a:solidFill>
                  <a:srgbClr val="0F172A"/>
                </a:solidFill>
              </a:defRPr>
            </a:pPr>
            <a:r>
              <a:t>• Successful formal client handover with Bli Dek on 30 September 2026 with complete client satisfaction.</a:t>
            </a:r>
          </a:p>
        </p:txBody>
      </p:sp>
      <p:sp>
        <p:nvSpPr>
          <p:cNvPr id="6" name="Rectangle 5"/>
          <p:cNvSpPr/>
          <p:nvPr/>
        </p:nvSpPr>
        <p:spPr>
          <a:xfrm>
            <a:off x="4389120" y="1280160"/>
            <a:ext cx="33832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53712" y="1463040"/>
            <a:ext cx="3054096" cy="3749039"/>
          </a:xfrm>
          <a:prstGeom prst="rect">
            <a:avLst/>
          </a:prstGeom>
          <a:noFill/>
        </p:spPr>
        <p:txBody>
          <a:bodyPr wrap="square">
            <a:spAutoFit/>
          </a:bodyPr>
          <a:lstStyle/>
          <a:p>
            <a:pPr>
              <a:defRPr sz="1000" b="1">
                <a:solidFill>
                  <a:srgbClr val="F59E0B"/>
                </a:solidFill>
              </a:defRPr>
            </a:pPr>
            <a:r>
              <a:t>ACADEMIC VS. INDUSTRY LEARNINGS</a:t>
            </a:r>
          </a:p>
          <a:p>
            <a:pPr>
              <a:spcBef>
                <a:spcPts val="800"/>
              </a:spcBef>
              <a:defRPr sz="900">
                <a:solidFill>
                  <a:srgbClr val="0F172A"/>
                </a:solidFill>
              </a:defRPr>
            </a:pPr>
            <a:r>
              <a:t>• Bridged university coursework (DB normalization, OOP, REST) to enterprise engineering (NestJS DI, CORS, JWT Auth).</a:t>
            </a:r>
          </a:p>
          <a:p>
            <a:pPr>
              <a:spcBef>
                <a:spcPts val="800"/>
              </a:spcBef>
              <a:defRPr sz="900">
                <a:solidFill>
                  <a:srgbClr val="0F172A"/>
                </a:solidFill>
              </a:defRPr>
            </a:pPr>
            <a:r>
              <a:t>• Professional Git workflow discipline: feature branching, Pull Requests, and peer reviews.</a:t>
            </a:r>
          </a:p>
          <a:p>
            <a:pPr>
              <a:spcBef>
                <a:spcPts val="800"/>
              </a:spcBef>
              <a:defRPr sz="900">
                <a:solidFill>
                  <a:srgbClr val="0F172A"/>
                </a:solidFill>
              </a:defRPr>
            </a:pPr>
            <a:r>
              <a:t>• Contract-first communication: moving from verbal agreements to formal Postman API workspace specifications.</a:t>
            </a:r>
          </a:p>
        </p:txBody>
      </p:sp>
      <p:sp>
        <p:nvSpPr>
          <p:cNvPr id="8" name="Rectangle 7"/>
          <p:cNvSpPr/>
          <p:nvPr/>
        </p:nvSpPr>
        <p:spPr>
          <a:xfrm>
            <a:off x="8046720" y="1280160"/>
            <a:ext cx="3383280" cy="41148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463040"/>
            <a:ext cx="3054096" cy="3749039"/>
          </a:xfrm>
          <a:prstGeom prst="rect">
            <a:avLst/>
          </a:prstGeom>
          <a:noFill/>
        </p:spPr>
        <p:txBody>
          <a:bodyPr wrap="square">
            <a:spAutoFit/>
          </a:bodyPr>
          <a:lstStyle/>
          <a:p>
            <a:pPr>
              <a:defRPr sz="1000" b="1">
                <a:solidFill>
                  <a:srgbClr val="0284C7"/>
                </a:solidFill>
              </a:defRPr>
            </a:pPr>
            <a:r>
              <a:t>KEY TAKEAWAYS &amp; FUTURE OUTLOOK</a:t>
            </a:r>
          </a:p>
          <a:p>
            <a:pPr>
              <a:spcBef>
                <a:spcPts val="800"/>
              </a:spcBef>
              <a:defRPr sz="900">
                <a:solidFill>
                  <a:srgbClr val="0F172A"/>
                </a:solidFill>
              </a:defRPr>
            </a:pPr>
            <a:r>
              <a:t>• Schedule edge-case / combined multi-field testing earlier in sprint cycles rather than during final acceptance.</a:t>
            </a:r>
          </a:p>
          <a:p>
            <a:pPr>
              <a:spcBef>
                <a:spcPts val="800"/>
              </a:spcBef>
              <a:defRPr sz="900">
                <a:solidFill>
                  <a:srgbClr val="0F172A"/>
                </a:solidFill>
              </a:defRPr>
            </a:pPr>
            <a:r>
              <a:t>• Adopt Swagger OpenAPI documentation from Day 1 to eliminate frontend contract ambiguity.</a:t>
            </a:r>
          </a:p>
          <a:p>
            <a:pPr>
              <a:spcBef>
                <a:spcPts val="800"/>
              </a:spcBef>
              <a:defRPr sz="900">
                <a:solidFill>
                  <a:srgbClr val="0F172A"/>
                </a:solidFill>
              </a:defRPr>
            </a:pPr>
            <a:r>
              <a:t>• Future Horizon: Cloud object storage (AWS S3) and Role-Based Access Control (RBAC) for studio growth.</a:t>
            </a:r>
          </a:p>
        </p:txBody>
      </p:sp>
      <p:sp>
        <p:nvSpPr>
          <p:cNvPr id="10" name="Rectangle 9"/>
          <p:cNvSpPr/>
          <p:nvPr/>
        </p:nvSpPr>
        <p:spPr>
          <a:xfrm>
            <a:off x="731520" y="5577840"/>
            <a:ext cx="10698480" cy="777240"/>
          </a:xfrm>
          <a:prstGeom prst="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69280"/>
            <a:ext cx="10332720" cy="594360"/>
          </a:xfrm>
          <a:prstGeom prst="rect">
            <a:avLst/>
          </a:prstGeom>
          <a:noFill/>
        </p:spPr>
        <p:txBody>
          <a:bodyPr wrap="square">
            <a:spAutoFit/>
          </a:bodyPr>
          <a:lstStyle/>
          <a:p>
            <a:pPr algn="ctr">
              <a:defRPr sz="1100" b="1">
                <a:solidFill>
                  <a:srgbClr val="0EA5E9"/>
                </a:solidFill>
              </a:defRPr>
            </a:pPr>
            <a:r>
              <a:t>THANK YOU FOR YOUR TIME &amp; ATTENTION  |  QUESTIONS &amp; ANSWERS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