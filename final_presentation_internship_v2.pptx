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1" d="100"/>
          <a:sy n="131" d="100"/>
        </p:scale>
        <p:origin x="101"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0191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to the respected examiners, supervisor, and lecturers. I am I Putu Agus Aribawa, Student ID E2400080. Today I am presenting my BIT320 Industrial Internship Final Presentation. Over the 12-week internship period from July to September 2026, I served as the Backend Developer Intern at Code Cipta, developing a modern, database-driven spatial architecture platform for our client, GRAHITA Design. I am pleased to report that the project was completed successfully, deployed to production, and evaluated with an industry score of 94/100 (Grade: Excellent). Let us begin with the company background.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2, we present the organizational background. Code Cipta is a modern software house and development agency that took on the digital transformation of GRAHITA Design. Code Cipta fosters an Agile engineering culture with peer code reviews and CI/CD best practices. Our client, GRAHITA Design, is an avant-garde spatial architecture studio led by studio principal Bli Dek. Because GRAHITA Design serves an international design clientele, their key business demand was an interactive digital presence with complete bilingual Chinese (Mandarin) and English localization, backed by a robust content management system.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3, we establish the project goals. GRAHITA Design needed to break free from a static HTML website that incurred operational delays every time a new project completed. Our team set five clear architectural deliverables: first, a relational portfolio schema; second, native bilingual Chinese and English localization; third, mathematical 3D cube slot coordination for Three.js; fourth, an automated two-way email notification pipeline; and fifth, a secured administrative dashboard with JWT guards. As backend developer, my duty was to ensure these five pillars operated with high reliability and sub-millisecond query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showcases our first major outcome: the 3D spatial WebGL canvas. Rather than a conventional flat grid, GRAHITA Design's homepage features 55 interactive 3D cubes created with Three.js by Kevin Wiratama. My backend powers this through the 'handleCubeIndexConflict' algorithm: whenever a project is assigned a cubeIndex (0 to 54), the backend ensures no two projects ever claim the same slot. The endpoint /projects/pane-status responds in under 50 milliseconds, allowing Three.js to bind database projects to interactive WebGL meshes seamlessly with glassmorphic tooltips.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illustrates our second outcome: the bilingual portfolio catalog. To serve GRAHITA Design's target market across East and Southeast Asia, I engineered complete bilingual support into our TypeORM entities. The API dynamically resolves requests for Chinese (Mandarin) and English content. Furthermore, our multi-image gallery relationship allows each architectural project to showcase multiple high-resolution photos with cover image synchronization. Category filtering and pagination were validated through Postman, ensuring fast page rendering.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6, we present our third outcome: the administrative CMS dashboard. A critical project goal was empowering GRAHITA Design to manage their portfolio independently. I built the administrative security layer using Passport.js and JWT tokens. All create, update, and delete endpoints are guarded by JwtAuthGuard. Using Multer disk storage, administrators can upload multiple photos at once. I also built physical filesystem cleanup routines: deleting a project or image immediately unlinks the file from disk, preventing storage leaks on the production server.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covers the fourth outcome: our API documentation and automated communication pipeline. To ensure seamless collaboration with frontend developer Kevin, I set up Swagger OpenAPI at /api/docs, providing living, interactive documentation. For client inquiries, I implemented a dual-dispatch email service using Nodemailer: the studio receives the inquiry with reply-to headers pointing to the client, and the client receives an automated confirmation receipt. I also added a simulation mode so that missing SMTP credentials in local testing gracefully log to console rather than throwing errors. The backend is fully deployed in production using PM2 and Nginx.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8, we evaluate my personal internship goals against actual technical deliveries. At the start of the internship, my goals focused on mastering NestJS, learning TypeORM repository patterns, and implementing JWT auth. I achieved 100% of these baseline goals. Furthermore, I took the initiative to exceed the initial scope: I engineered the 3D cube conflict algorithm, implemented dual Nodemailer email automation, added rate limiting, and unified our monorepo developer scripts. This demonstrated proactive problem-solving and architectural initiative beyond minimum course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highlights the formal evaluation outcomes. At the conclusion of the 12-week placement, my workplace supervisor at Code Cipta awarded me an industry evaluation score of 94 out of 100, which corresponds to an 'Excellent' rating. The supervisor commended my technical initiative in independently solving the 3D cube conflict problem, as well as my reliable communication. On the right side, the timeline illustrates our progression from early Waterfall schema planning to the successful client handover with Bli Dek on September 30th.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reflects on the technical experience gained. The internship bridged academic coursework with real-world industry engineering. In university, we learn relational algebra and basic SQL. In production, I learned how ORMs manage entity cascades and disk cleanup. I gained deep practical mastery in NestJS dependency injection, industry-standard JWT authentication, CORS preflight debugging, and cloud hosting operations with PM2 and Nginx. These experiences transformed my understanding from writing functional scripts to architecting production-grade server systems.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examines the key lessons learned. First, I learned the importance of testing combined edge cases early. The intermittent admin gallery update issue only surfaced when modifying text and uploading photos in the same request; isolating it taught me that integration testing must test complex composite payloads early in development. Second, contract-first design is indispensable: using Swagger and Postman eliminated communication drift between Kevin and myself. Third, defensive engineering—such as simulation fallback for our mailer and automated SQLite backups—ensures production resilience.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our final slide on Slide 12, we highlight communication and interpersonal teamwork. A successful software project relies on clear human collaboration as much as code. Working with Kevin on the Angular frontend taught me the power of written API contracts and collaborative debugging. Weekly supervisor reviews sharpened my ability to present technical solutions and receive constructive criticism. Engaging directly with our client, Bli Dek, developed my professional communication skills, translating business needs into data schemas. This conclude my internship presentation. I would like to express my sincere gratitude to my supervisor at Code Cipta, my lecturers at HELP University, and my colleague Kevin. Thank you very much, and I welcome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005840"/>
            <a:ext cx="7772400" cy="365760"/>
          </a:xfrm>
          <a:prstGeom prst="rect">
            <a:avLst/>
          </a:prstGeom>
          <a:noFill/>
        </p:spPr>
        <p:txBody>
          <a:bodyPr wrap="none">
            <a:spAutoFit/>
          </a:bodyPr>
          <a:lstStyle/>
          <a:p>
            <a:pPr>
              <a:defRPr sz="1100" b="1">
                <a:solidFill>
                  <a:srgbClr val="0EA5E9"/>
                </a:solidFill>
              </a:defRPr>
            </a:pPr>
            <a:r>
              <a:t>HELP UNIVERSITY  |  BIT320 INDUSTRIAL INTERNSHIP FINAL PRESENTATION</a:t>
            </a:r>
          </a:p>
        </p:txBody>
      </p:sp>
      <p:sp>
        <p:nvSpPr>
          <p:cNvPr id="4" name="TextBox 3"/>
          <p:cNvSpPr txBox="1"/>
          <p:nvPr/>
        </p:nvSpPr>
        <p:spPr>
          <a:xfrm>
            <a:off x="914400" y="1371600"/>
            <a:ext cx="10332720" cy="1645920"/>
          </a:xfrm>
          <a:prstGeom prst="rect">
            <a:avLst/>
          </a:prstGeom>
          <a:noFill/>
        </p:spPr>
        <p:txBody>
          <a:bodyPr wrap="square">
            <a:spAutoFit/>
          </a:bodyPr>
          <a:lstStyle/>
          <a:p>
            <a:pPr>
              <a:defRPr sz="3200" b="1">
                <a:solidFill>
                  <a:srgbClr val="FFFFFF"/>
                </a:solidFill>
              </a:defRPr>
            </a:pPr>
            <a:r>
              <a:t>Development of Scalable Backend Architecture &amp; 3D Spatial Coordination API for GRAHITA Design</a:t>
            </a:r>
          </a:p>
        </p:txBody>
      </p:sp>
      <p:sp>
        <p:nvSpPr>
          <p:cNvPr id="5" name="TextBox 4"/>
          <p:cNvSpPr txBox="1"/>
          <p:nvPr/>
        </p:nvSpPr>
        <p:spPr>
          <a:xfrm>
            <a:off x="914400" y="3108960"/>
            <a:ext cx="10332720" cy="548640"/>
          </a:xfrm>
          <a:prstGeom prst="rect">
            <a:avLst/>
          </a:prstGeom>
          <a:noFill/>
        </p:spPr>
        <p:txBody>
          <a:bodyPr wrap="square">
            <a:spAutoFit/>
          </a:bodyPr>
          <a:lstStyle/>
          <a:p>
            <a:pPr>
              <a:defRPr sz="1600">
                <a:solidFill>
                  <a:srgbClr val="CBD5E1"/>
                </a:solidFill>
              </a:defRPr>
            </a:pPr>
            <a:r>
              <a:t>A Cloud-Deployed NestJS &amp; SQLite RESTful System Integrating 3D WebGL Spatial Portals &amp; Bilingual Localization</a:t>
            </a:r>
          </a:p>
        </p:txBody>
      </p:sp>
      <p:sp>
        <p:nvSpPr>
          <p:cNvPr id="6" name="Rectangle 5"/>
          <p:cNvSpPr/>
          <p:nvPr/>
        </p:nvSpPr>
        <p:spPr>
          <a:xfrm>
            <a:off x="91440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4251960"/>
            <a:ext cx="2093976" cy="1463040"/>
          </a:xfrm>
          <a:prstGeom prst="rect">
            <a:avLst/>
          </a:prstGeom>
          <a:noFill/>
        </p:spPr>
        <p:txBody>
          <a:bodyPr wrap="square">
            <a:spAutoFit/>
          </a:bodyPr>
          <a:lstStyle/>
          <a:p>
            <a:pPr>
              <a:defRPr sz="900" b="1">
                <a:solidFill>
                  <a:srgbClr val="0EA5E9"/>
                </a:solidFill>
              </a:defRPr>
            </a:pPr>
            <a:r>
              <a:t>STUDENT &amp; ROLE</a:t>
            </a:r>
          </a:p>
          <a:p>
            <a:pPr>
              <a:spcBef>
                <a:spcPts val="600"/>
              </a:spcBef>
              <a:defRPr sz="1100">
                <a:solidFill>
                  <a:srgbClr val="FFFFFF"/>
                </a:solidFill>
              </a:defRPr>
            </a:pPr>
            <a:r>
              <a:t>I Putu Agus Aribawa</a:t>
            </a:r>
            <a:br/>
            <a:r>
              <a:t>ID: E2400080</a:t>
            </a:r>
            <a:br/>
            <a:r>
              <a:t>Backend Developer Intern</a:t>
            </a:r>
          </a:p>
        </p:txBody>
      </p:sp>
      <p:sp>
        <p:nvSpPr>
          <p:cNvPr id="8" name="Rectangle 7"/>
          <p:cNvSpPr/>
          <p:nvPr/>
        </p:nvSpPr>
        <p:spPr>
          <a:xfrm>
            <a:off x="352044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5032" y="4251960"/>
            <a:ext cx="2093976" cy="1463040"/>
          </a:xfrm>
          <a:prstGeom prst="rect">
            <a:avLst/>
          </a:prstGeom>
          <a:noFill/>
        </p:spPr>
        <p:txBody>
          <a:bodyPr wrap="square">
            <a:spAutoFit/>
          </a:bodyPr>
          <a:lstStyle/>
          <a:p>
            <a:pPr>
              <a:defRPr sz="900" b="1">
                <a:solidFill>
                  <a:srgbClr val="0284C7"/>
                </a:solidFill>
              </a:defRPr>
            </a:pPr>
            <a:r>
              <a:t>HOST ORGANISATION</a:t>
            </a:r>
          </a:p>
          <a:p>
            <a:pPr>
              <a:spcBef>
                <a:spcPts val="600"/>
              </a:spcBef>
              <a:defRPr sz="1100">
                <a:solidFill>
                  <a:srgbClr val="FFFFFF"/>
                </a:solidFill>
              </a:defRPr>
            </a:pPr>
            <a:r>
              <a:t>Code Cipta</a:t>
            </a:r>
            <a:br/>
            <a:r>
              <a:t>Software House &amp; Development Agency</a:t>
            </a:r>
            <a:br/>
            <a:r>
              <a:t>Lead: Team Supervisor</a:t>
            </a:r>
          </a:p>
        </p:txBody>
      </p:sp>
      <p:sp>
        <p:nvSpPr>
          <p:cNvPr id="10" name="Rectangle 9"/>
          <p:cNvSpPr/>
          <p:nvPr/>
        </p:nvSpPr>
        <p:spPr>
          <a:xfrm>
            <a:off x="612648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91072" y="4251960"/>
            <a:ext cx="2093976" cy="1463040"/>
          </a:xfrm>
          <a:prstGeom prst="rect">
            <a:avLst/>
          </a:prstGeom>
          <a:noFill/>
        </p:spPr>
        <p:txBody>
          <a:bodyPr wrap="square">
            <a:spAutoFit/>
          </a:bodyPr>
          <a:lstStyle/>
          <a:p>
            <a:pPr>
              <a:defRPr sz="900" b="1">
                <a:solidFill>
                  <a:srgbClr val="0284C7"/>
                </a:solidFill>
              </a:defRPr>
            </a:pPr>
            <a:r>
              <a:t>CLIENT ORGANISATION</a:t>
            </a:r>
          </a:p>
          <a:p>
            <a:pPr>
              <a:spcBef>
                <a:spcPts val="600"/>
              </a:spcBef>
              <a:defRPr sz="1100">
                <a:solidFill>
                  <a:srgbClr val="FFFFFF"/>
                </a:solidFill>
              </a:defRPr>
            </a:pPr>
            <a:r>
              <a:t>GRAHITA Design</a:t>
            </a:r>
            <a:br/>
            <a:r>
              <a:t>Spatial Architecture Studio</a:t>
            </a:r>
            <a:br/>
            <a:r>
              <a:t>Client Principal: Bli Dek</a:t>
            </a:r>
          </a:p>
        </p:txBody>
      </p:sp>
      <p:sp>
        <p:nvSpPr>
          <p:cNvPr id="12" name="Rectangle 11"/>
          <p:cNvSpPr/>
          <p:nvPr/>
        </p:nvSpPr>
        <p:spPr>
          <a:xfrm>
            <a:off x="873252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97112" y="4251960"/>
            <a:ext cx="2093976" cy="1463040"/>
          </a:xfrm>
          <a:prstGeom prst="rect">
            <a:avLst/>
          </a:prstGeom>
          <a:noFill/>
        </p:spPr>
        <p:txBody>
          <a:bodyPr wrap="square">
            <a:spAutoFit/>
          </a:bodyPr>
          <a:lstStyle/>
          <a:p>
            <a:pPr>
              <a:defRPr sz="900" b="1">
                <a:solidFill>
                  <a:srgbClr val="F59E0B"/>
                </a:solidFill>
              </a:defRPr>
            </a:pPr>
            <a:r>
              <a:t>EVALUATION &amp; DURATION</a:t>
            </a:r>
          </a:p>
          <a:p>
            <a:pPr>
              <a:spcBef>
                <a:spcPts val="600"/>
              </a:spcBef>
              <a:defRPr sz="1100">
                <a:solidFill>
                  <a:srgbClr val="FFFFFF"/>
                </a:solidFill>
              </a:defRPr>
            </a:pPr>
            <a:r>
              <a:t>12 Weeks (July – Sept 2026)</a:t>
            </a:r>
            <a:br/>
            <a:r>
              <a:t>Industry Score: 94 / 100</a:t>
            </a:r>
            <a:br/>
            <a:r>
              <a:t>Grade: Excellent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01 | ORGANISATIONAL CONTEXT</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Company Background: Host Organisation &amp; Client</a:t>
            </a:r>
          </a:p>
        </p:txBody>
      </p:sp>
      <p:sp>
        <p:nvSpPr>
          <p:cNvPr id="4" name="Rectangle 3"/>
          <p:cNvSpPr/>
          <p:nvPr/>
        </p:nvSpPr>
        <p:spPr>
          <a:xfrm>
            <a:off x="731520" y="1280160"/>
            <a:ext cx="52120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63040"/>
            <a:ext cx="4846320" cy="4411464"/>
          </a:xfrm>
          <a:prstGeom prst="rect">
            <a:avLst/>
          </a:prstGeom>
          <a:noFill/>
        </p:spPr>
        <p:txBody>
          <a:bodyPr wrap="square">
            <a:spAutoFit/>
          </a:bodyPr>
          <a:lstStyle/>
          <a:p>
            <a:pPr>
              <a:defRPr sz="1100" b="1">
                <a:solidFill>
                  <a:srgbClr val="0284C7"/>
                </a:solidFill>
              </a:defRPr>
            </a:pPr>
            <a:r>
              <a:rPr sz="1600" dirty="0"/>
              <a:t>HOST: CODE CIPTA (SOFTWARE HOUSE)</a:t>
            </a:r>
            <a:endParaRPr sz="1400" dirty="0"/>
          </a:p>
          <a:p>
            <a:pPr>
              <a:spcBef>
                <a:spcPts val="800"/>
              </a:spcBef>
              <a:defRPr sz="950">
                <a:solidFill>
                  <a:srgbClr val="0F172A"/>
                </a:solidFill>
              </a:defRPr>
            </a:pPr>
            <a:r>
              <a:rPr sz="1600" dirty="0"/>
              <a:t>• Company Profile: A creative software house and technology development agency specializing in web platforms, custom cloud architectures, and digital transformation.</a:t>
            </a:r>
          </a:p>
          <a:p>
            <a:pPr>
              <a:spcBef>
                <a:spcPts val="800"/>
              </a:spcBef>
              <a:defRPr sz="950">
                <a:solidFill>
                  <a:srgbClr val="0F172A"/>
                </a:solidFill>
              </a:defRPr>
            </a:pPr>
            <a:r>
              <a:rPr sz="1600" dirty="0"/>
              <a:t>• Engineering Environment: Operates with cross-functional Agile engineering pods, pairing backend developers, frontend UI/UX engineers, and product leads.</a:t>
            </a:r>
          </a:p>
          <a:p>
            <a:pPr>
              <a:spcBef>
                <a:spcPts val="800"/>
              </a:spcBef>
              <a:defRPr sz="950">
                <a:solidFill>
                  <a:srgbClr val="0F172A"/>
                </a:solidFill>
              </a:defRPr>
            </a:pPr>
            <a:r>
              <a:rPr sz="1600" dirty="0"/>
              <a:t>• Internship Mentorship: Provided direct engineering supervision, code reviews, and industry exposure to enterprise TypeScript frameworks and deployment pipelines.</a:t>
            </a:r>
          </a:p>
          <a:p>
            <a:pPr>
              <a:spcBef>
                <a:spcPts val="800"/>
              </a:spcBef>
              <a:defRPr sz="950">
                <a:solidFill>
                  <a:srgbClr val="0F172A"/>
                </a:solidFill>
              </a:defRPr>
            </a:pPr>
            <a:r>
              <a:rPr sz="1600" dirty="0"/>
              <a:t>• Collaborative Stack: Standardized on </a:t>
            </a:r>
            <a:r>
              <a:rPr sz="1600" dirty="0" err="1"/>
              <a:t>NestJS</a:t>
            </a:r>
            <a:r>
              <a:rPr sz="1600" dirty="0"/>
              <a:t> for backend robustness, Angular 18 for client interfaces, Git feature branching, and Postman API workspaces.</a:t>
            </a:r>
          </a:p>
        </p:txBody>
      </p:sp>
      <p:sp>
        <p:nvSpPr>
          <p:cNvPr id="6" name="Rectangle 5"/>
          <p:cNvSpPr/>
          <p:nvPr/>
        </p:nvSpPr>
        <p:spPr>
          <a:xfrm>
            <a:off x="6217920" y="1280160"/>
            <a:ext cx="52120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463040"/>
            <a:ext cx="4846320" cy="4411464"/>
          </a:xfrm>
          <a:prstGeom prst="rect">
            <a:avLst/>
          </a:prstGeom>
          <a:noFill/>
        </p:spPr>
        <p:txBody>
          <a:bodyPr wrap="square">
            <a:spAutoFit/>
          </a:bodyPr>
          <a:lstStyle/>
          <a:p>
            <a:pPr>
              <a:defRPr sz="1100" b="1">
                <a:solidFill>
                  <a:srgbClr val="0284C7"/>
                </a:solidFill>
              </a:defRPr>
            </a:pPr>
            <a:r>
              <a:rPr sz="1600" dirty="0"/>
              <a:t>CLIENT: GRAHITA DESIGN (SPATIAL STUDIO)</a:t>
            </a:r>
            <a:endParaRPr sz="1400" dirty="0"/>
          </a:p>
          <a:p>
            <a:pPr>
              <a:spcBef>
                <a:spcPts val="800"/>
              </a:spcBef>
              <a:defRPr sz="950">
                <a:solidFill>
                  <a:srgbClr val="0F172A"/>
                </a:solidFill>
              </a:defRPr>
            </a:pPr>
            <a:r>
              <a:rPr sz="1600" dirty="0"/>
              <a:t>• Studio Identity: A premier architecture and spatial design studio known for monolithic concrete structures, fluid boundaries, and sustainable tropical concepts.</a:t>
            </a:r>
          </a:p>
          <a:p>
            <a:pPr>
              <a:spcBef>
                <a:spcPts val="800"/>
              </a:spcBef>
              <a:defRPr sz="950">
                <a:solidFill>
                  <a:srgbClr val="0F172A"/>
                </a:solidFill>
              </a:defRPr>
            </a:pPr>
            <a:r>
              <a:rPr sz="1600" dirty="0"/>
              <a:t>• Client Leadership: Led by Studio Principal </a:t>
            </a:r>
            <a:r>
              <a:rPr sz="1600" dirty="0" err="1"/>
              <a:t>Bli</a:t>
            </a:r>
            <a:r>
              <a:rPr sz="1600" dirty="0"/>
              <a:t> Dek, demanding a digital portfolio that accurately communicates spatial depth rather than flat 2D photography.</a:t>
            </a:r>
          </a:p>
          <a:p>
            <a:pPr>
              <a:spcBef>
                <a:spcPts val="800"/>
              </a:spcBef>
              <a:defRPr sz="950">
                <a:solidFill>
                  <a:srgbClr val="0F172A"/>
                </a:solidFill>
              </a:defRPr>
            </a:pPr>
            <a:r>
              <a:rPr sz="1600" dirty="0"/>
              <a:t>• Market &amp; Audience: Caters to an international clientele across Southeast Asia and East Asia, requiring full bilingual Chinese (Mandarin) and English capabilities.</a:t>
            </a:r>
          </a:p>
          <a:p>
            <a:pPr>
              <a:spcBef>
                <a:spcPts val="800"/>
              </a:spcBef>
              <a:defRPr sz="950">
                <a:solidFill>
                  <a:srgbClr val="0F172A"/>
                </a:solidFill>
              </a:defRPr>
            </a:pPr>
            <a:r>
              <a:rPr sz="1600" dirty="0"/>
              <a:t>• Core Expectation: An interactive web platform where physical architectural space translates into interactive 3D WebGL portals with autonomous content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02 | PROJECT OBJECTIVES</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Project Goals: Bridging Architecture &amp; Web Engineering</a:t>
            </a:r>
          </a:p>
        </p:txBody>
      </p:sp>
      <p:sp>
        <p:nvSpPr>
          <p:cNvPr id="4" name="Rectangle 3"/>
          <p:cNvSpPr/>
          <p:nvPr/>
        </p:nvSpPr>
        <p:spPr>
          <a:xfrm>
            <a:off x="731520" y="1280160"/>
            <a:ext cx="41148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17320"/>
            <a:ext cx="3749039" cy="3231654"/>
          </a:xfrm>
          <a:prstGeom prst="rect">
            <a:avLst/>
          </a:prstGeom>
          <a:noFill/>
        </p:spPr>
        <p:txBody>
          <a:bodyPr wrap="square">
            <a:spAutoFit/>
          </a:bodyPr>
          <a:lstStyle/>
          <a:p>
            <a:pPr>
              <a:defRPr sz="1100" b="1">
                <a:solidFill>
                  <a:srgbClr val="0284C7"/>
                </a:solidFill>
              </a:defRPr>
            </a:pPr>
            <a:r>
              <a:rPr sz="1600" dirty="0"/>
              <a:t>TRANSFORMATION CHALLENGE</a:t>
            </a:r>
            <a:endParaRPr sz="1200" dirty="0"/>
          </a:p>
          <a:p>
            <a:pPr>
              <a:spcBef>
                <a:spcPts val="800"/>
              </a:spcBef>
              <a:defRPr sz="950">
                <a:solidFill>
                  <a:srgbClr val="0F172A"/>
                </a:solidFill>
              </a:defRPr>
            </a:pPr>
            <a:r>
              <a:rPr sz="1400" dirty="0"/>
              <a:t>• Legacy Static Bottleneck: Previous portfolio was static HTML with hardcoded text and images. Every update required manual developer intervention.</a:t>
            </a:r>
          </a:p>
          <a:p>
            <a:pPr>
              <a:spcBef>
                <a:spcPts val="800"/>
              </a:spcBef>
              <a:defRPr sz="950">
                <a:solidFill>
                  <a:srgbClr val="0F172A"/>
                </a:solidFill>
              </a:defRPr>
            </a:pPr>
            <a:r>
              <a:rPr sz="1400" dirty="0"/>
              <a:t>• Absence of Centralized CMS: No administrative authentication or database management existed to update project catalogs or monitor client inquiries.</a:t>
            </a:r>
          </a:p>
          <a:p>
            <a:pPr>
              <a:spcBef>
                <a:spcPts val="800"/>
              </a:spcBef>
              <a:defRPr sz="950">
                <a:solidFill>
                  <a:srgbClr val="0F172A"/>
                </a:solidFill>
              </a:defRPr>
            </a:pPr>
            <a:r>
              <a:rPr sz="1400" dirty="0"/>
              <a:t>• Missing Spatial Identity: The digital presentation failed to convey the 3D spatial volumetric aesthetics that define GRAHITA Design's physical architecture.</a:t>
            </a:r>
          </a:p>
        </p:txBody>
      </p:sp>
      <p:sp>
        <p:nvSpPr>
          <p:cNvPr id="6" name="Rectangle 5"/>
          <p:cNvSpPr/>
          <p:nvPr/>
        </p:nvSpPr>
        <p:spPr>
          <a:xfrm>
            <a:off x="5120640" y="1280160"/>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0" y="1371600"/>
            <a:ext cx="5943600" cy="671979"/>
          </a:xfrm>
          <a:prstGeom prst="rect">
            <a:avLst/>
          </a:prstGeom>
          <a:noFill/>
        </p:spPr>
        <p:txBody>
          <a:bodyPr wrap="square">
            <a:spAutoFit/>
          </a:bodyPr>
          <a:lstStyle/>
          <a:p>
            <a:pPr>
              <a:defRPr sz="1050" b="1">
                <a:solidFill>
                  <a:srgbClr val="0284C7"/>
                </a:solidFill>
              </a:defRPr>
            </a:pPr>
            <a:r>
              <a:rPr sz="1400" dirty="0"/>
              <a:t>1. Relational Portfolio Management:</a:t>
            </a:r>
          </a:p>
          <a:p>
            <a:pPr>
              <a:spcBef>
                <a:spcPts val="200"/>
              </a:spcBef>
              <a:defRPr sz="900">
                <a:solidFill>
                  <a:srgbClr val="64748B"/>
                </a:solidFill>
              </a:defRPr>
            </a:pPr>
            <a:r>
              <a:rPr sz="1100" dirty="0"/>
              <a:t>Design an SQLite relational schema via </a:t>
            </a:r>
            <a:r>
              <a:rPr sz="1100" dirty="0" err="1"/>
              <a:t>TypeORM</a:t>
            </a:r>
            <a:r>
              <a:rPr sz="1100" dirty="0"/>
              <a:t> supporting categories, rich architectural metadata, and multi-image galleries.</a:t>
            </a:r>
          </a:p>
        </p:txBody>
      </p:sp>
      <p:sp>
        <p:nvSpPr>
          <p:cNvPr id="8" name="Rectangle 7"/>
          <p:cNvSpPr/>
          <p:nvPr/>
        </p:nvSpPr>
        <p:spPr>
          <a:xfrm>
            <a:off x="5120640" y="2267712"/>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2359152"/>
            <a:ext cx="5943600" cy="671979"/>
          </a:xfrm>
          <a:prstGeom prst="rect">
            <a:avLst/>
          </a:prstGeom>
          <a:noFill/>
        </p:spPr>
        <p:txBody>
          <a:bodyPr wrap="square">
            <a:spAutoFit/>
          </a:bodyPr>
          <a:lstStyle/>
          <a:p>
            <a:pPr>
              <a:defRPr sz="1050" b="1">
                <a:solidFill>
                  <a:srgbClr val="0284C7"/>
                </a:solidFill>
              </a:defRPr>
            </a:pPr>
            <a:r>
              <a:rPr sz="1400" dirty="0"/>
              <a:t>2. Bilingual Content Synchronization:</a:t>
            </a:r>
          </a:p>
          <a:p>
            <a:pPr>
              <a:spcBef>
                <a:spcPts val="200"/>
              </a:spcBef>
              <a:defRPr sz="900">
                <a:solidFill>
                  <a:srgbClr val="64748B"/>
                </a:solidFill>
              </a:defRPr>
            </a:pPr>
            <a:r>
              <a:rPr sz="1100" dirty="0"/>
              <a:t>Engineer database entities and DTOs with Chinese (Mandarin) and English field parity (title, description, specs).</a:t>
            </a:r>
          </a:p>
        </p:txBody>
      </p:sp>
      <p:sp>
        <p:nvSpPr>
          <p:cNvPr id="10" name="Rectangle 9"/>
          <p:cNvSpPr/>
          <p:nvPr/>
        </p:nvSpPr>
        <p:spPr>
          <a:xfrm>
            <a:off x="5120640" y="3255264"/>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0" y="3346704"/>
            <a:ext cx="5943600" cy="671979"/>
          </a:xfrm>
          <a:prstGeom prst="rect">
            <a:avLst/>
          </a:prstGeom>
          <a:noFill/>
        </p:spPr>
        <p:txBody>
          <a:bodyPr wrap="square">
            <a:spAutoFit/>
          </a:bodyPr>
          <a:lstStyle/>
          <a:p>
            <a:pPr>
              <a:defRPr sz="1050" b="1">
                <a:solidFill>
                  <a:srgbClr val="0284C7"/>
                </a:solidFill>
              </a:defRPr>
            </a:pPr>
            <a:r>
              <a:rPr sz="1400" dirty="0"/>
              <a:t>3. 3D WebGL Spatial Coordination:</a:t>
            </a:r>
          </a:p>
          <a:p>
            <a:pPr>
              <a:spcBef>
                <a:spcPts val="200"/>
              </a:spcBef>
              <a:defRPr sz="900">
                <a:solidFill>
                  <a:srgbClr val="64748B"/>
                </a:solidFill>
              </a:defRPr>
            </a:pPr>
            <a:r>
              <a:rPr sz="1100" dirty="0"/>
              <a:t>Author an algorithmic slot coordination mechanism (</a:t>
            </a:r>
            <a:r>
              <a:rPr sz="1100" dirty="0" err="1"/>
              <a:t>handleCubeIndexConflict</a:t>
            </a:r>
            <a:r>
              <a:rPr sz="1100" dirty="0"/>
              <a:t>) mapping database projects to 55 Three.js 3D cubes.</a:t>
            </a:r>
          </a:p>
        </p:txBody>
      </p:sp>
      <p:sp>
        <p:nvSpPr>
          <p:cNvPr id="12" name="Rectangle 11"/>
          <p:cNvSpPr/>
          <p:nvPr/>
        </p:nvSpPr>
        <p:spPr>
          <a:xfrm>
            <a:off x="5120640" y="4242816"/>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3520" y="4334256"/>
            <a:ext cx="5943600" cy="671979"/>
          </a:xfrm>
          <a:prstGeom prst="rect">
            <a:avLst/>
          </a:prstGeom>
          <a:noFill/>
        </p:spPr>
        <p:txBody>
          <a:bodyPr wrap="square">
            <a:spAutoFit/>
          </a:bodyPr>
          <a:lstStyle/>
          <a:p>
            <a:pPr>
              <a:defRPr sz="1050" b="1">
                <a:solidFill>
                  <a:srgbClr val="0284C7"/>
                </a:solidFill>
              </a:defRPr>
            </a:pPr>
            <a:r>
              <a:rPr sz="1400" dirty="0"/>
              <a:t>4. Automated Two-Way Inquiry Pipeline:</a:t>
            </a:r>
          </a:p>
          <a:p>
            <a:pPr>
              <a:spcBef>
                <a:spcPts val="200"/>
              </a:spcBef>
              <a:defRPr sz="900">
                <a:solidFill>
                  <a:srgbClr val="64748B"/>
                </a:solidFill>
              </a:defRPr>
            </a:pPr>
            <a:r>
              <a:rPr sz="1100" dirty="0"/>
              <a:t>Build validated POST /contact endpoint with asynchronous dual </a:t>
            </a:r>
            <a:r>
              <a:rPr sz="1100" dirty="0" err="1"/>
              <a:t>Nodemailer</a:t>
            </a:r>
            <a:r>
              <a:rPr sz="1100" dirty="0"/>
              <a:t> SMTP dispatch (admin alert &amp; client confirmation).</a:t>
            </a:r>
          </a:p>
        </p:txBody>
      </p:sp>
      <p:sp>
        <p:nvSpPr>
          <p:cNvPr id="14" name="Rectangle 13"/>
          <p:cNvSpPr/>
          <p:nvPr/>
        </p:nvSpPr>
        <p:spPr>
          <a:xfrm>
            <a:off x="5120640" y="5230368"/>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0" y="5321808"/>
            <a:ext cx="5943600" cy="671979"/>
          </a:xfrm>
          <a:prstGeom prst="rect">
            <a:avLst/>
          </a:prstGeom>
          <a:noFill/>
        </p:spPr>
        <p:txBody>
          <a:bodyPr wrap="square">
            <a:spAutoFit/>
          </a:bodyPr>
          <a:lstStyle/>
          <a:p>
            <a:pPr>
              <a:defRPr sz="1050" b="1">
                <a:solidFill>
                  <a:srgbClr val="0284C7"/>
                </a:solidFill>
              </a:defRPr>
            </a:pPr>
            <a:r>
              <a:rPr sz="1400" dirty="0"/>
              <a:t>5. Secured Administrative Dashboard:</a:t>
            </a:r>
          </a:p>
          <a:p>
            <a:pPr>
              <a:spcBef>
                <a:spcPts val="200"/>
              </a:spcBef>
              <a:defRPr sz="900">
                <a:solidFill>
                  <a:srgbClr val="64748B"/>
                </a:solidFill>
              </a:defRPr>
            </a:pPr>
            <a:r>
              <a:rPr sz="1100" dirty="0"/>
              <a:t>Implement JWT token authentication with </a:t>
            </a:r>
            <a:r>
              <a:rPr sz="1100" dirty="0" err="1"/>
              <a:t>bcrypt</a:t>
            </a:r>
            <a:r>
              <a:rPr sz="1100" dirty="0"/>
              <a:t> password hashing and route guards for autonomous studio CMS management.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03 | PROJECT OUTCOMES (1/4)</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Outcome 1: Interactive 3D Spatial Canvas &amp; WebGL Sync</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17320"/>
            <a:ext cx="4663440" cy="3341941"/>
          </a:xfrm>
          <a:prstGeom prst="rect">
            <a:avLst/>
          </a:prstGeom>
          <a:noFill/>
        </p:spPr>
        <p:txBody>
          <a:bodyPr wrap="square">
            <a:spAutoFit/>
          </a:bodyPr>
          <a:lstStyle/>
          <a:p>
            <a:pPr>
              <a:defRPr sz="1100" b="1">
                <a:solidFill>
                  <a:srgbClr val="0284C7"/>
                </a:solidFill>
              </a:defRPr>
            </a:pPr>
            <a:r>
              <a:rPr sz="1600" dirty="0"/>
              <a:t>3D SPATIAL COORDINATION OUTCOMES</a:t>
            </a:r>
          </a:p>
          <a:p>
            <a:pPr>
              <a:spcBef>
                <a:spcPts val="700"/>
              </a:spcBef>
              <a:defRPr sz="919">
                <a:solidFill>
                  <a:srgbClr val="0F172A"/>
                </a:solidFill>
              </a:defRPr>
            </a:pPr>
            <a:r>
              <a:rPr sz="1200" dirty="0"/>
              <a:t>• Three.js 55-Cube Spatial Matrix: The frontend renders 55 interactive wireframe cubes distributed across 3D coordinate space on the Home/Manifestation page.</a:t>
            </a:r>
          </a:p>
          <a:p>
            <a:pPr>
              <a:spcBef>
                <a:spcPts val="700"/>
              </a:spcBef>
              <a:defRPr sz="919">
                <a:solidFill>
                  <a:srgbClr val="0F172A"/>
                </a:solidFill>
              </a:defRPr>
            </a:pPr>
            <a:r>
              <a:rPr sz="1200" dirty="0"/>
              <a:t>• </a:t>
            </a:r>
            <a:r>
              <a:rPr sz="1200" dirty="0" err="1"/>
              <a:t>Raycasting</a:t>
            </a:r>
            <a:r>
              <a:rPr sz="1200" dirty="0"/>
              <a:t> Collision Detection: Mouse hover events dynamically cast ray vectors into the WebGL scene, identifying active cubes and pulling bound project metadata.</a:t>
            </a:r>
          </a:p>
          <a:p>
            <a:pPr>
              <a:spcBef>
                <a:spcPts val="700"/>
              </a:spcBef>
              <a:defRPr sz="919">
                <a:solidFill>
                  <a:srgbClr val="0F172A"/>
                </a:solidFill>
              </a:defRPr>
            </a:pPr>
            <a:r>
              <a:rPr sz="1200" dirty="0"/>
              <a:t>• The </a:t>
            </a:r>
            <a:r>
              <a:rPr sz="1200" dirty="0" err="1"/>
              <a:t>handleCubeIndexConflict</a:t>
            </a:r>
            <a:r>
              <a:rPr sz="1200" dirty="0"/>
              <a:t> Algorithm: Authored in </a:t>
            </a:r>
            <a:r>
              <a:rPr sz="1200" dirty="0" err="1"/>
              <a:t>ProjectsService</a:t>
            </a:r>
            <a:r>
              <a:rPr sz="1200" dirty="0"/>
              <a:t> using </a:t>
            </a:r>
            <a:r>
              <a:rPr sz="1200" dirty="0" err="1"/>
              <a:t>TypeORM's</a:t>
            </a:r>
            <a:r>
              <a:rPr sz="1200" dirty="0"/>
              <a:t> Not(</a:t>
            </a:r>
            <a:r>
              <a:rPr sz="1200" dirty="0" err="1"/>
              <a:t>currentProjectId</a:t>
            </a:r>
            <a:r>
              <a:rPr sz="1200" dirty="0"/>
              <a:t>) to atomically eject prior slot occupants (setting </a:t>
            </a:r>
            <a:r>
              <a:rPr sz="1200" dirty="0" err="1"/>
              <a:t>cubeIndex</a:t>
            </a:r>
            <a:r>
              <a:rPr sz="1200" dirty="0"/>
              <a:t> = null), guaranteeing zero collision.</a:t>
            </a:r>
          </a:p>
          <a:p>
            <a:pPr>
              <a:spcBef>
                <a:spcPts val="700"/>
              </a:spcBef>
              <a:defRPr sz="919">
                <a:solidFill>
                  <a:srgbClr val="0F172A"/>
                </a:solidFill>
              </a:defRPr>
            </a:pPr>
            <a:r>
              <a:rPr sz="1200" dirty="0"/>
              <a:t>• </a:t>
            </a:r>
            <a:r>
              <a:rPr sz="1200" dirty="0" err="1"/>
              <a:t>Glassmorphic</a:t>
            </a:r>
            <a:r>
              <a:rPr sz="1200" dirty="0"/>
              <a:t> Hover Tooltips: Interactive UI renders bilingual project title, category, and spatial index, providing seamless click routing to project details.</a:t>
            </a:r>
          </a:p>
          <a:p>
            <a:pPr>
              <a:spcBef>
                <a:spcPts val="700"/>
              </a:spcBef>
              <a:defRPr sz="919">
                <a:solidFill>
                  <a:srgbClr val="0F172A"/>
                </a:solidFill>
              </a:defRPr>
            </a:pPr>
            <a:r>
              <a:rPr sz="1200" dirty="0"/>
              <a:t>• Performance Result: Sub-50ms latency for GET /projects/pane-status, ensuring instantaneous 3D scene initialization.</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40" y="1463040"/>
            <a:ext cx="5394960" cy="384048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8" name="TextBox 7"/>
          <p:cNvSpPr txBox="1"/>
          <p:nvPr/>
        </p:nvSpPr>
        <p:spPr>
          <a:xfrm>
            <a:off x="6172200" y="5257800"/>
            <a:ext cx="5120640" cy="615553"/>
          </a:xfrm>
          <a:prstGeom prst="rect">
            <a:avLst/>
          </a:prstGeom>
          <a:noFill/>
        </p:spPr>
        <p:txBody>
          <a:bodyPr wrap="square" lIns="0" tIns="0" rIns="0" bIns="0">
            <a:spAutoFit/>
          </a:bodyPr>
          <a:lstStyle/>
          <a:p>
            <a:pPr>
              <a:defRPr sz="850" b="1">
                <a:solidFill>
                  <a:srgbClr val="0F172A"/>
                </a:solidFill>
              </a:defRPr>
            </a:pPr>
            <a:r>
              <a:rPr sz="1000" dirty="0"/>
              <a:t>Screenshot Guide &amp; Description:</a:t>
            </a:r>
          </a:p>
          <a:p>
            <a:pPr>
              <a:defRPr sz="800">
                <a:solidFill>
                  <a:srgbClr val="64748B"/>
                </a:solidFill>
              </a:defRPr>
            </a:pPr>
            <a:r>
              <a:rPr sz="1000" dirty="0"/>
              <a:t>Insert screenshot of the public Home/Manifestation page showing the interactive Three.js 3D cube canvas with an active hovered wireframe cube displaying the architectural title and bilingual tooltip.</a:t>
            </a:r>
          </a:p>
        </p:txBody>
      </p:sp>
      <p:pic>
        <p:nvPicPr>
          <p:cNvPr id="10" name="Picture 9">
            <a:extLst>
              <a:ext uri="{FF2B5EF4-FFF2-40B4-BE49-F238E27FC236}">
                <a16:creationId xmlns:a16="http://schemas.microsoft.com/office/drawing/2014/main" id="{B03A588A-0A75-96DB-9F55-E7ACB7786CBE}"/>
              </a:ext>
            </a:extLst>
          </p:cNvPr>
          <p:cNvPicPr>
            <a:picLocks noChangeAspect="1"/>
          </p:cNvPicPr>
          <p:nvPr/>
        </p:nvPicPr>
        <p:blipFill>
          <a:blip r:embed="rId3"/>
          <a:stretch>
            <a:fillRect/>
          </a:stretch>
        </p:blipFill>
        <p:spPr>
          <a:xfrm>
            <a:off x="6339893" y="1429891"/>
            <a:ext cx="4785253" cy="37364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03 | PROJECT OUTCOMES (2/4)</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Outcome 2: Bilingual Architectural Portfolio &amp; Showcase</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17320"/>
            <a:ext cx="4663440" cy="3526606"/>
          </a:xfrm>
          <a:prstGeom prst="rect">
            <a:avLst/>
          </a:prstGeom>
          <a:noFill/>
        </p:spPr>
        <p:txBody>
          <a:bodyPr wrap="square">
            <a:spAutoFit/>
          </a:bodyPr>
          <a:lstStyle/>
          <a:p>
            <a:pPr>
              <a:defRPr sz="1100" b="1">
                <a:solidFill>
                  <a:srgbClr val="0284C7"/>
                </a:solidFill>
              </a:defRPr>
            </a:pPr>
            <a:r>
              <a:rPr sz="1600" dirty="0"/>
              <a:t>BILINGUAL CATALOG &amp; QUERY CAPABILITIES</a:t>
            </a:r>
          </a:p>
          <a:p>
            <a:pPr>
              <a:spcBef>
                <a:spcPts val="700"/>
              </a:spcBef>
              <a:defRPr sz="919">
                <a:solidFill>
                  <a:srgbClr val="0F172A"/>
                </a:solidFill>
              </a:defRPr>
            </a:pPr>
            <a:r>
              <a:rPr sz="1200" dirty="0"/>
              <a:t>• Bilingual Entity Architecture: Restructured Project and Category entities with dedicated Chinese (Mandarin) and English columns (</a:t>
            </a:r>
            <a:r>
              <a:rPr sz="1200" dirty="0" err="1"/>
              <a:t>title_zh</a:t>
            </a:r>
            <a:r>
              <a:rPr sz="1200" dirty="0"/>
              <a:t>, </a:t>
            </a:r>
            <a:r>
              <a:rPr sz="1200" dirty="0" err="1"/>
              <a:t>title_en</a:t>
            </a:r>
            <a:r>
              <a:rPr sz="1200" dirty="0"/>
              <a:t>, </a:t>
            </a:r>
            <a:r>
              <a:rPr sz="1200" dirty="0" err="1"/>
              <a:t>description_zh</a:t>
            </a:r>
            <a:r>
              <a:rPr sz="1200" dirty="0"/>
              <a:t>, </a:t>
            </a:r>
            <a:r>
              <a:rPr sz="1200" dirty="0" err="1"/>
              <a:t>description_en</a:t>
            </a:r>
            <a:r>
              <a:rPr sz="1200" dirty="0"/>
              <a:t>).</a:t>
            </a:r>
          </a:p>
          <a:p>
            <a:pPr>
              <a:spcBef>
                <a:spcPts val="700"/>
              </a:spcBef>
              <a:defRPr sz="919">
                <a:solidFill>
                  <a:srgbClr val="0F172A"/>
                </a:solidFill>
              </a:defRPr>
            </a:pPr>
            <a:r>
              <a:rPr sz="1200" dirty="0"/>
              <a:t>• Dynamic Language Switcher: Endpoints accept ?lang=</a:t>
            </a:r>
            <a:r>
              <a:rPr sz="1200" dirty="0" err="1"/>
              <a:t>zh</a:t>
            </a:r>
            <a:r>
              <a:rPr sz="1200" dirty="0"/>
              <a:t> or ?lang=</a:t>
            </a:r>
            <a:r>
              <a:rPr sz="1200" dirty="0" err="1"/>
              <a:t>en</a:t>
            </a:r>
            <a:r>
              <a:rPr sz="1200" dirty="0"/>
              <a:t> query parameters, returning standardized JSON payloads tailored to the client's language toggle.</a:t>
            </a:r>
          </a:p>
          <a:p>
            <a:pPr>
              <a:spcBef>
                <a:spcPts val="700"/>
              </a:spcBef>
              <a:defRPr sz="919">
                <a:solidFill>
                  <a:srgbClr val="0F172A"/>
                </a:solidFill>
              </a:defRPr>
            </a:pPr>
            <a:r>
              <a:rPr sz="1200" dirty="0"/>
              <a:t>• Multi-Image Gallery Association: Projects link to </a:t>
            </a:r>
            <a:r>
              <a:rPr sz="1200" dirty="0" err="1"/>
              <a:t>ProjectImage</a:t>
            </a:r>
            <a:r>
              <a:rPr sz="1200" dirty="0"/>
              <a:t> records via @OneToMany with cascading deletion, allowing multi-perspective architectural photo galleries.</a:t>
            </a:r>
          </a:p>
          <a:p>
            <a:pPr>
              <a:spcBef>
                <a:spcPts val="700"/>
              </a:spcBef>
              <a:defRPr sz="919">
                <a:solidFill>
                  <a:srgbClr val="0F172A"/>
                </a:solidFill>
              </a:defRPr>
            </a:pPr>
            <a:r>
              <a:rPr sz="1200" dirty="0"/>
              <a:t>• Category Filtering &amp; Pagination: GET /projects supports category filtering (Residential, Commercial, Cultural, Institutional) and pagination via </a:t>
            </a:r>
            <a:r>
              <a:rPr sz="1200" dirty="0" err="1"/>
              <a:t>TypeORM</a:t>
            </a:r>
            <a:r>
              <a:rPr sz="1200" dirty="0"/>
              <a:t> skip/take.</a:t>
            </a:r>
          </a:p>
          <a:p>
            <a:pPr>
              <a:spcBef>
                <a:spcPts val="700"/>
              </a:spcBef>
              <a:defRPr sz="919">
                <a:solidFill>
                  <a:srgbClr val="0F172A"/>
                </a:solidFill>
              </a:defRPr>
            </a:pPr>
            <a:r>
              <a:rPr sz="1200" dirty="0"/>
              <a:t>• Automated Seeder Initialization: </a:t>
            </a:r>
            <a:r>
              <a:rPr sz="1200" dirty="0" err="1"/>
              <a:t>OnModuleInit</a:t>
            </a:r>
            <a:r>
              <a:rPr sz="1200" dirty="0"/>
              <a:t> automatically seeds 5 realistic architectural projects with complete bilingual copy and image arrays upon startup.</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40" y="1463040"/>
            <a:ext cx="5394960" cy="384048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8" name="TextBox 7"/>
          <p:cNvSpPr txBox="1"/>
          <p:nvPr/>
        </p:nvSpPr>
        <p:spPr>
          <a:xfrm>
            <a:off x="6172200" y="5257800"/>
            <a:ext cx="5120640" cy="960120"/>
          </a:xfrm>
          <a:prstGeom prst="rect">
            <a:avLst/>
          </a:prstGeom>
          <a:noFill/>
        </p:spPr>
        <p:txBody>
          <a:bodyPr wrap="square" lIns="0" tIns="0" rIns="0" bIns="0">
            <a:spAutoFit/>
          </a:bodyPr>
          <a:lstStyle/>
          <a:p>
            <a:pPr>
              <a:defRPr sz="850" b="1">
                <a:solidFill>
                  <a:srgbClr val="0F172A"/>
                </a:solidFill>
              </a:defRPr>
            </a:pPr>
            <a:r>
              <a:t>Screenshot Guide &amp; Description:</a:t>
            </a:r>
          </a:p>
          <a:p>
            <a:pPr>
              <a:defRPr sz="800">
                <a:solidFill>
                  <a:srgbClr val="64748B"/>
                </a:solidFill>
              </a:defRPr>
            </a:pPr>
            <a:r>
              <a:t>Insert screenshot of the public Portfolio page or Project Detail view demonstrating bilingual content rendering (Chinese/English text), architectural metadata, and the responsive multi-image gallery.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03 | PROJECT OUTCOMES (3/4)</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Outcome 3: Secured Admin Content Management Dashboard</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17320"/>
            <a:ext cx="4663440" cy="3526606"/>
          </a:xfrm>
          <a:prstGeom prst="rect">
            <a:avLst/>
          </a:prstGeom>
          <a:noFill/>
        </p:spPr>
        <p:txBody>
          <a:bodyPr wrap="square">
            <a:spAutoFit/>
          </a:bodyPr>
          <a:lstStyle/>
          <a:p>
            <a:pPr>
              <a:defRPr sz="1100" b="1">
                <a:solidFill>
                  <a:srgbClr val="0284C7"/>
                </a:solidFill>
              </a:defRPr>
            </a:pPr>
            <a:r>
              <a:rPr sz="1600" dirty="0"/>
              <a:t>ADMINISTRATIVE CMS SPECIFICATIONS</a:t>
            </a:r>
          </a:p>
          <a:p>
            <a:pPr>
              <a:spcBef>
                <a:spcPts val="700"/>
              </a:spcBef>
              <a:defRPr sz="919">
                <a:solidFill>
                  <a:srgbClr val="0F172A"/>
                </a:solidFill>
              </a:defRPr>
            </a:pPr>
            <a:r>
              <a:rPr sz="1200" dirty="0"/>
              <a:t>• Authentication &amp; Access Control: POST /auth/login verifies salted </a:t>
            </a:r>
            <a:r>
              <a:rPr sz="1200" dirty="0" err="1"/>
              <a:t>bcrypt</a:t>
            </a:r>
            <a:r>
              <a:rPr sz="1200" dirty="0"/>
              <a:t> password hashes and issues signed JSON Web Tokens (JWT) with 7-day expiration.</a:t>
            </a:r>
          </a:p>
          <a:p>
            <a:pPr>
              <a:spcBef>
                <a:spcPts val="700"/>
              </a:spcBef>
              <a:defRPr sz="919">
                <a:solidFill>
                  <a:srgbClr val="0F172A"/>
                </a:solidFill>
              </a:defRPr>
            </a:pPr>
            <a:r>
              <a:rPr sz="1200" dirty="0"/>
              <a:t>• Protected Mutation Routes: </a:t>
            </a:r>
            <a:r>
              <a:rPr sz="1200" dirty="0" err="1"/>
              <a:t>JwtAuthGuard</a:t>
            </a:r>
            <a:r>
              <a:rPr sz="1200" dirty="0"/>
              <a:t> enforces Bearer token validation across POST /projects, PUT /projects/:id, and DELETE /projects/:id.</a:t>
            </a:r>
          </a:p>
          <a:p>
            <a:pPr>
              <a:spcBef>
                <a:spcPts val="700"/>
              </a:spcBef>
              <a:defRPr sz="919">
                <a:solidFill>
                  <a:srgbClr val="0F172A"/>
                </a:solidFill>
              </a:defRPr>
            </a:pPr>
            <a:r>
              <a:rPr sz="1200" dirty="0"/>
              <a:t>• Multi-Image File Upload Pipeline: Configured Multer's </a:t>
            </a:r>
            <a:r>
              <a:rPr sz="1200" dirty="0" err="1"/>
              <a:t>FilesInterceptor</a:t>
            </a:r>
            <a:r>
              <a:rPr sz="1200" dirty="0"/>
              <a:t> with </a:t>
            </a:r>
            <a:r>
              <a:rPr sz="1200" dirty="0" err="1"/>
              <a:t>diskStorage</a:t>
            </a:r>
            <a:r>
              <a:rPr sz="1200" dirty="0"/>
              <a:t> in </a:t>
            </a:r>
            <a:r>
              <a:rPr sz="1200" dirty="0" err="1"/>
              <a:t>ProjectsController</a:t>
            </a:r>
            <a:r>
              <a:rPr sz="1200" dirty="0"/>
              <a:t>, storing uploaded photos in ./uploads/ with unique timestamped filenames.</a:t>
            </a:r>
          </a:p>
          <a:p>
            <a:pPr>
              <a:spcBef>
                <a:spcPts val="700"/>
              </a:spcBef>
              <a:defRPr sz="919">
                <a:solidFill>
                  <a:srgbClr val="0F172A"/>
                </a:solidFill>
              </a:defRPr>
            </a:pPr>
            <a:r>
              <a:rPr sz="1200" dirty="0"/>
              <a:t>• Granular Image Management: Implemented DELETE /projects/:id/images/:</a:t>
            </a:r>
            <a:r>
              <a:rPr sz="1200" dirty="0" err="1"/>
              <a:t>imageId</a:t>
            </a:r>
            <a:r>
              <a:rPr sz="1200" dirty="0"/>
              <a:t> with automatic disk cleanup (</a:t>
            </a:r>
            <a:r>
              <a:rPr sz="1200" dirty="0" err="1"/>
              <a:t>fs.unlinkSync</a:t>
            </a:r>
            <a:r>
              <a:rPr sz="1200" dirty="0"/>
              <a:t>) to prevent orphaned storage leaks.</a:t>
            </a:r>
          </a:p>
          <a:p>
            <a:pPr>
              <a:spcBef>
                <a:spcPts val="700"/>
              </a:spcBef>
              <a:defRPr sz="919">
                <a:solidFill>
                  <a:srgbClr val="0F172A"/>
                </a:solidFill>
              </a:defRPr>
            </a:pPr>
            <a:r>
              <a:rPr sz="1200" dirty="0"/>
              <a:t>• Client Autonomy: Studio staff can log into /admin/dashboard, upload new projects, update bilingual descriptions, and assign 3D cube slots without developer help.</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40" y="1463040"/>
            <a:ext cx="5394960" cy="384048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8" name="TextBox 7"/>
          <p:cNvSpPr txBox="1"/>
          <p:nvPr/>
        </p:nvSpPr>
        <p:spPr>
          <a:xfrm>
            <a:off x="6172200" y="5257800"/>
            <a:ext cx="5120640" cy="960120"/>
          </a:xfrm>
          <a:prstGeom prst="rect">
            <a:avLst/>
          </a:prstGeom>
          <a:noFill/>
        </p:spPr>
        <p:txBody>
          <a:bodyPr wrap="square" lIns="0" tIns="0" rIns="0" bIns="0">
            <a:spAutoFit/>
          </a:bodyPr>
          <a:lstStyle/>
          <a:p>
            <a:pPr>
              <a:defRPr sz="850" b="1">
                <a:solidFill>
                  <a:srgbClr val="0F172A"/>
                </a:solidFill>
              </a:defRPr>
            </a:pPr>
            <a:r>
              <a:t>Screenshot Guide &amp; Description:</a:t>
            </a:r>
          </a:p>
          <a:p>
            <a:pPr>
              <a:defRPr sz="800">
                <a:solidFill>
                  <a:srgbClr val="64748B"/>
                </a:solidFill>
              </a:defRPr>
            </a:pPr>
            <a:r>
              <a:t>Insert screenshot of the Admin Dashboard (/admin/dashboard) showing the project catalog table, the multi-file upload dropzone, and the project editor modal with 3D cube index assignment.</a:t>
            </a:r>
          </a:p>
        </p:txBody>
      </p:sp>
      <p:pic>
        <p:nvPicPr>
          <p:cNvPr id="10" name="Picture 9">
            <a:extLst>
              <a:ext uri="{FF2B5EF4-FFF2-40B4-BE49-F238E27FC236}">
                <a16:creationId xmlns:a16="http://schemas.microsoft.com/office/drawing/2014/main" id="{CCD08C8D-126E-79F9-7C89-40C50B310C38}"/>
              </a:ext>
            </a:extLst>
          </p:cNvPr>
          <p:cNvPicPr>
            <a:picLocks noChangeAspect="1"/>
          </p:cNvPicPr>
          <p:nvPr/>
        </p:nvPicPr>
        <p:blipFill>
          <a:blip r:embed="rId3"/>
          <a:stretch>
            <a:fillRect/>
          </a:stretch>
        </p:blipFill>
        <p:spPr>
          <a:xfrm>
            <a:off x="6360031" y="2099568"/>
            <a:ext cx="4722734" cy="2902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03 | PROJECT OUTCOMES (4/4)</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Outcome 4: Backend API, Swagger Docs &amp; Dual SMTP Mailer</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17320"/>
            <a:ext cx="4663440" cy="3000821"/>
          </a:xfrm>
          <a:prstGeom prst="rect">
            <a:avLst/>
          </a:prstGeom>
          <a:noFill/>
        </p:spPr>
        <p:txBody>
          <a:bodyPr wrap="square">
            <a:spAutoFit/>
          </a:bodyPr>
          <a:lstStyle/>
          <a:p>
            <a:pPr>
              <a:defRPr sz="1100" b="1">
                <a:solidFill>
                  <a:srgbClr val="0284C7"/>
                </a:solidFill>
              </a:defRPr>
            </a:pPr>
            <a:r>
              <a:rPr sz="1600" dirty="0"/>
              <a:t>API DOCUMENTATION &amp; EMAIL PIPELINE</a:t>
            </a:r>
          </a:p>
          <a:p>
            <a:pPr>
              <a:spcBef>
                <a:spcPts val="600"/>
              </a:spcBef>
              <a:defRPr sz="919">
                <a:solidFill>
                  <a:srgbClr val="0F172A"/>
                </a:solidFill>
              </a:defRPr>
            </a:pPr>
            <a:r>
              <a:rPr sz="1100" dirty="0"/>
              <a:t>• Interactive Swagger </a:t>
            </a:r>
            <a:r>
              <a:rPr sz="1100" dirty="0" err="1"/>
              <a:t>OpenAPI</a:t>
            </a:r>
            <a:r>
              <a:rPr sz="1100" dirty="0"/>
              <a:t> (/</a:t>
            </a:r>
            <a:r>
              <a:rPr sz="1100" dirty="0" err="1"/>
              <a:t>api</a:t>
            </a:r>
            <a:r>
              <a:rPr sz="1100" dirty="0"/>
              <a:t>/docs): Integrated @nestjs/swagger with full DTO schemas and HTTP response definitions, providing a live interactive contract for frontend consumption.</a:t>
            </a:r>
          </a:p>
          <a:p>
            <a:pPr>
              <a:spcBef>
                <a:spcPts val="600"/>
              </a:spcBef>
              <a:defRPr sz="919">
                <a:solidFill>
                  <a:srgbClr val="0F172A"/>
                </a:solidFill>
              </a:defRPr>
            </a:pPr>
            <a:r>
              <a:rPr sz="1100" dirty="0"/>
              <a:t>• Asynchronous Dual </a:t>
            </a:r>
            <a:r>
              <a:rPr sz="1100" dirty="0" err="1"/>
              <a:t>Nodemailer</a:t>
            </a:r>
            <a:r>
              <a:rPr sz="1100" dirty="0"/>
              <a:t> Dispatch: </a:t>
            </a:r>
            <a:r>
              <a:rPr sz="1100" dirty="0" err="1"/>
              <a:t>MailModule</a:t>
            </a:r>
            <a:r>
              <a:rPr sz="1100" dirty="0"/>
              <a:t> dispatches two emails upon each contact form submission:</a:t>
            </a:r>
          </a:p>
          <a:p>
            <a:pPr>
              <a:spcBef>
                <a:spcPts val="600"/>
              </a:spcBef>
              <a:defRPr sz="919">
                <a:solidFill>
                  <a:srgbClr val="0F172A"/>
                </a:solidFill>
              </a:defRPr>
            </a:pPr>
            <a:r>
              <a:rPr sz="1100" dirty="0"/>
              <a:t>   • Studio Admin Notification: Sends complete client inquiry to studio admin (gusari2271@gmail.com) with </a:t>
            </a:r>
            <a:r>
              <a:rPr sz="1100" dirty="0" err="1"/>
              <a:t>replyTo</a:t>
            </a:r>
            <a:r>
              <a:rPr sz="1100" dirty="0"/>
              <a:t> configured to client's email.</a:t>
            </a:r>
          </a:p>
          <a:p>
            <a:pPr>
              <a:spcBef>
                <a:spcPts val="600"/>
              </a:spcBef>
              <a:defRPr sz="919">
                <a:solidFill>
                  <a:srgbClr val="0F172A"/>
                </a:solidFill>
              </a:defRPr>
            </a:pPr>
            <a:r>
              <a:rPr sz="1100" dirty="0"/>
              <a:t>   • Client Delivery Confirmation: Sends an immediate automated receipt confirmation to the prospective client.</a:t>
            </a:r>
          </a:p>
          <a:p>
            <a:pPr>
              <a:spcBef>
                <a:spcPts val="600"/>
              </a:spcBef>
              <a:defRPr sz="919">
                <a:solidFill>
                  <a:srgbClr val="0F172A"/>
                </a:solidFill>
              </a:defRPr>
            </a:pPr>
            <a:r>
              <a:rPr sz="1100" dirty="0"/>
              <a:t>• Graceful Simulation Mode: Fallback console logging ensures local developer testing never breaks if SMTP credentials are not yet populated in .env.</a:t>
            </a:r>
          </a:p>
          <a:p>
            <a:pPr>
              <a:spcBef>
                <a:spcPts val="600"/>
              </a:spcBef>
              <a:defRPr sz="919">
                <a:solidFill>
                  <a:srgbClr val="0F172A"/>
                </a:solidFill>
              </a:defRPr>
            </a:pPr>
            <a:r>
              <a:rPr sz="1100" dirty="0"/>
              <a:t>• Production Cloud Deployment: Deployed with PM2 process manager and Nginx reverse proxy on cloud hosting with production CORS whitelisting.</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802072" y="1480513"/>
            <a:ext cx="5394960" cy="384048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8" name="TextBox 7"/>
          <p:cNvSpPr txBox="1"/>
          <p:nvPr/>
        </p:nvSpPr>
        <p:spPr>
          <a:xfrm>
            <a:off x="6172200" y="5257800"/>
            <a:ext cx="5120640" cy="960120"/>
          </a:xfrm>
          <a:prstGeom prst="rect">
            <a:avLst/>
          </a:prstGeom>
          <a:noFill/>
        </p:spPr>
        <p:txBody>
          <a:bodyPr wrap="square" lIns="0" tIns="0" rIns="0" bIns="0">
            <a:spAutoFit/>
          </a:bodyPr>
          <a:lstStyle/>
          <a:p>
            <a:pPr>
              <a:defRPr sz="850" b="1">
                <a:solidFill>
                  <a:srgbClr val="0F172A"/>
                </a:solidFill>
              </a:defRPr>
            </a:pPr>
            <a:r>
              <a:rPr dirty="0"/>
              <a:t>Screenshot Guide &amp; Description:</a:t>
            </a:r>
          </a:p>
          <a:p>
            <a:pPr>
              <a:defRPr sz="800">
                <a:solidFill>
                  <a:srgbClr val="64748B"/>
                </a:solidFill>
              </a:defRPr>
            </a:pPr>
            <a:r>
              <a:rPr dirty="0"/>
              <a:t>Insert screenshot of the Swagger UI documentation (/</a:t>
            </a:r>
            <a:r>
              <a:rPr dirty="0" err="1"/>
              <a:t>api</a:t>
            </a:r>
            <a:r>
              <a:rPr dirty="0"/>
              <a:t>/docs) or Postman testing workspace, and a screenshot of test inquiry emails received in the inbox / terminal console dispatch logs.</a:t>
            </a:r>
          </a:p>
        </p:txBody>
      </p:sp>
      <p:pic>
        <p:nvPicPr>
          <p:cNvPr id="10" name="Picture 9">
            <a:extLst>
              <a:ext uri="{FF2B5EF4-FFF2-40B4-BE49-F238E27FC236}">
                <a16:creationId xmlns:a16="http://schemas.microsoft.com/office/drawing/2014/main" id="{0A56C725-7905-93B2-CB4D-FA71E65D527D}"/>
              </a:ext>
            </a:extLst>
          </p:cNvPr>
          <p:cNvPicPr>
            <a:picLocks noChangeAspect="1"/>
          </p:cNvPicPr>
          <p:nvPr/>
        </p:nvPicPr>
        <p:blipFill>
          <a:blip r:embed="rId3"/>
          <a:stretch>
            <a:fillRect/>
          </a:stretch>
        </p:blipFill>
        <p:spPr>
          <a:xfrm>
            <a:off x="6414486" y="1432463"/>
            <a:ext cx="4636067" cy="36730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04 | INTERNSHIP GOALS &amp; OUTCOMES (1/2)</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Internship Goals &amp; Technical Deliverables Alignment</a:t>
            </a:r>
          </a:p>
        </p:txBody>
      </p:sp>
      <p:sp>
        <p:nvSpPr>
          <p:cNvPr id="4" name="Rectangle 3"/>
          <p:cNvSpPr/>
          <p:nvPr/>
        </p:nvSpPr>
        <p:spPr>
          <a:xfrm>
            <a:off x="7315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463040"/>
            <a:ext cx="3054096" cy="3118803"/>
          </a:xfrm>
          <a:prstGeom prst="rect">
            <a:avLst/>
          </a:prstGeom>
          <a:noFill/>
        </p:spPr>
        <p:txBody>
          <a:bodyPr wrap="square">
            <a:spAutoFit/>
          </a:bodyPr>
          <a:lstStyle/>
          <a:p>
            <a:pPr>
              <a:defRPr sz="1000" b="1">
                <a:solidFill>
                  <a:srgbClr val="0284C7"/>
                </a:solidFill>
              </a:defRPr>
            </a:pPr>
            <a:r>
              <a:rPr sz="1600" dirty="0"/>
              <a:t>INITIAL INTERNSHIP GOALS</a:t>
            </a:r>
          </a:p>
          <a:p>
            <a:pPr>
              <a:spcBef>
                <a:spcPts val="800"/>
              </a:spcBef>
              <a:defRPr sz="919">
                <a:solidFill>
                  <a:srgbClr val="0F172A"/>
                </a:solidFill>
              </a:defRPr>
            </a:pPr>
            <a:r>
              <a:rPr sz="1400" dirty="0"/>
              <a:t>• Master </a:t>
            </a:r>
            <a:r>
              <a:rPr sz="1400" dirty="0" err="1"/>
              <a:t>NestJS</a:t>
            </a:r>
            <a:r>
              <a:rPr sz="1400" dirty="0"/>
              <a:t> modular enterprise architecture and TypeScript dependency injection.</a:t>
            </a:r>
          </a:p>
          <a:p>
            <a:pPr>
              <a:spcBef>
                <a:spcPts val="800"/>
              </a:spcBef>
              <a:defRPr sz="919">
                <a:solidFill>
                  <a:srgbClr val="0F172A"/>
                </a:solidFill>
              </a:defRPr>
            </a:pPr>
            <a:r>
              <a:rPr sz="1400" dirty="0"/>
              <a:t>• Design normalized SQLite relational schema and implement </a:t>
            </a:r>
            <a:r>
              <a:rPr sz="1400" dirty="0" err="1"/>
              <a:t>TypeORM</a:t>
            </a:r>
            <a:r>
              <a:rPr sz="1400" dirty="0"/>
              <a:t> repository operations.</a:t>
            </a:r>
          </a:p>
          <a:p>
            <a:pPr>
              <a:spcBef>
                <a:spcPts val="800"/>
              </a:spcBef>
              <a:defRPr sz="919">
                <a:solidFill>
                  <a:srgbClr val="0F172A"/>
                </a:solidFill>
              </a:defRPr>
            </a:pPr>
            <a:r>
              <a:rPr sz="1400" dirty="0"/>
              <a:t>• Build secure authentication pipeline using Passport JWT and route guards.</a:t>
            </a:r>
          </a:p>
          <a:p>
            <a:pPr>
              <a:spcBef>
                <a:spcPts val="800"/>
              </a:spcBef>
              <a:defRPr sz="919">
                <a:solidFill>
                  <a:srgbClr val="0F172A"/>
                </a:solidFill>
              </a:defRPr>
            </a:pPr>
            <a:r>
              <a:rPr sz="1400" dirty="0"/>
              <a:t>• Implement robust file upload handling and dynamic static asset serving.</a:t>
            </a:r>
          </a:p>
        </p:txBody>
      </p:sp>
      <p:sp>
        <p:nvSpPr>
          <p:cNvPr id="6" name="Rectangle 5"/>
          <p:cNvSpPr/>
          <p:nvPr/>
        </p:nvSpPr>
        <p:spPr>
          <a:xfrm>
            <a:off x="43891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53712" y="1463040"/>
            <a:ext cx="3054096" cy="3334246"/>
          </a:xfrm>
          <a:prstGeom prst="rect">
            <a:avLst/>
          </a:prstGeom>
          <a:noFill/>
        </p:spPr>
        <p:txBody>
          <a:bodyPr wrap="square">
            <a:spAutoFit/>
          </a:bodyPr>
          <a:lstStyle/>
          <a:p>
            <a:pPr>
              <a:defRPr sz="1000" b="1">
                <a:solidFill>
                  <a:srgbClr val="0EA5E9"/>
                </a:solidFill>
              </a:defRPr>
            </a:pPr>
            <a:r>
              <a:rPr sz="1600" dirty="0"/>
              <a:t>ACTUAL TECHNICAL OUTCOMES</a:t>
            </a:r>
          </a:p>
          <a:p>
            <a:pPr>
              <a:spcBef>
                <a:spcPts val="800"/>
              </a:spcBef>
              <a:defRPr sz="919">
                <a:solidFill>
                  <a:srgbClr val="0F172A"/>
                </a:solidFill>
              </a:defRPr>
            </a:pPr>
            <a:r>
              <a:rPr sz="1400" dirty="0"/>
              <a:t>• 100% of planned endpoints built, tested in Postman, and deployed to production.</a:t>
            </a:r>
          </a:p>
          <a:p>
            <a:pPr>
              <a:spcBef>
                <a:spcPts val="800"/>
              </a:spcBef>
              <a:defRPr sz="919">
                <a:solidFill>
                  <a:srgbClr val="0F172A"/>
                </a:solidFill>
              </a:defRPr>
            </a:pPr>
            <a:r>
              <a:rPr sz="1400" dirty="0"/>
              <a:t>• Engineered Project, </a:t>
            </a:r>
            <a:r>
              <a:rPr sz="1400" dirty="0" err="1"/>
              <a:t>ProjectImage</a:t>
            </a:r>
            <a:r>
              <a:rPr sz="1400" dirty="0"/>
              <a:t>, Contact, and User entities with cascading relationships.</a:t>
            </a:r>
          </a:p>
          <a:p>
            <a:pPr>
              <a:spcBef>
                <a:spcPts val="800"/>
              </a:spcBef>
              <a:defRPr sz="919">
                <a:solidFill>
                  <a:srgbClr val="0F172A"/>
                </a:solidFill>
              </a:defRPr>
            </a:pPr>
            <a:r>
              <a:rPr sz="1400" dirty="0"/>
              <a:t>• Implemented </a:t>
            </a:r>
            <a:r>
              <a:rPr sz="1400" dirty="0" err="1"/>
              <a:t>JwtAuthGuard</a:t>
            </a:r>
            <a:r>
              <a:rPr sz="1400" dirty="0"/>
              <a:t> protecting administrative mutation routes with </a:t>
            </a:r>
            <a:r>
              <a:rPr sz="1400" dirty="0" err="1"/>
              <a:t>bcrypt</a:t>
            </a:r>
            <a:r>
              <a:rPr sz="1400" dirty="0"/>
              <a:t> hashing.</a:t>
            </a:r>
          </a:p>
          <a:p>
            <a:pPr>
              <a:spcBef>
                <a:spcPts val="800"/>
              </a:spcBef>
              <a:defRPr sz="919">
                <a:solidFill>
                  <a:srgbClr val="0F172A"/>
                </a:solidFill>
              </a:defRPr>
            </a:pPr>
            <a:r>
              <a:rPr sz="1400" dirty="0"/>
              <a:t>• Integrated Multer multi-file uploads with physical disk cleanup routines (</a:t>
            </a:r>
            <a:r>
              <a:rPr sz="1400" dirty="0" err="1"/>
              <a:t>fs.unlinkSync</a:t>
            </a:r>
            <a:r>
              <a:rPr sz="1400" dirty="0"/>
              <a:t>).</a:t>
            </a:r>
          </a:p>
        </p:txBody>
      </p:sp>
      <p:sp>
        <p:nvSpPr>
          <p:cNvPr id="8" name="Rectangle 7"/>
          <p:cNvSpPr/>
          <p:nvPr/>
        </p:nvSpPr>
        <p:spPr>
          <a:xfrm>
            <a:off x="80467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463040"/>
            <a:ext cx="3054096" cy="2903359"/>
          </a:xfrm>
          <a:prstGeom prst="rect">
            <a:avLst/>
          </a:prstGeom>
          <a:noFill/>
        </p:spPr>
        <p:txBody>
          <a:bodyPr wrap="square">
            <a:spAutoFit/>
          </a:bodyPr>
          <a:lstStyle/>
          <a:p>
            <a:pPr>
              <a:defRPr sz="1000" b="1">
                <a:solidFill>
                  <a:srgbClr val="F59E0B"/>
                </a:solidFill>
              </a:defRPr>
            </a:pPr>
            <a:r>
              <a:rPr sz="1600" dirty="0"/>
              <a:t>EXCEEDED SCOPE DELIVERABLES</a:t>
            </a:r>
          </a:p>
          <a:p>
            <a:pPr>
              <a:spcBef>
                <a:spcPts val="800"/>
              </a:spcBef>
              <a:defRPr sz="919">
                <a:solidFill>
                  <a:srgbClr val="0F172A"/>
                </a:solidFill>
              </a:defRPr>
            </a:pPr>
            <a:r>
              <a:rPr sz="1400" dirty="0"/>
              <a:t>• Authored custom </a:t>
            </a:r>
            <a:r>
              <a:rPr sz="1400" dirty="0" err="1"/>
              <a:t>handleCubeIndexConflict</a:t>
            </a:r>
            <a:r>
              <a:rPr sz="1400" dirty="0"/>
              <a:t> algorithm for 3D Three.js WebGL slot coordination.</a:t>
            </a:r>
          </a:p>
          <a:p>
            <a:pPr>
              <a:spcBef>
                <a:spcPts val="800"/>
              </a:spcBef>
              <a:defRPr sz="919">
                <a:solidFill>
                  <a:srgbClr val="0F172A"/>
                </a:solidFill>
              </a:defRPr>
            </a:pPr>
            <a:r>
              <a:rPr sz="1400" dirty="0"/>
              <a:t>• Built asynchronous dual </a:t>
            </a:r>
            <a:r>
              <a:rPr sz="1400" dirty="0" err="1"/>
              <a:t>Nodemailer</a:t>
            </a:r>
            <a:r>
              <a:rPr sz="1400" dirty="0"/>
              <a:t> SMTP dispatch with simulation fallback.</a:t>
            </a:r>
          </a:p>
          <a:p>
            <a:pPr>
              <a:spcBef>
                <a:spcPts val="800"/>
              </a:spcBef>
              <a:defRPr sz="919">
                <a:solidFill>
                  <a:srgbClr val="0F172A"/>
                </a:solidFill>
              </a:defRPr>
            </a:pPr>
            <a:r>
              <a:rPr sz="1400" dirty="0"/>
              <a:t>• Implemented </a:t>
            </a:r>
            <a:r>
              <a:rPr sz="1400" dirty="0" err="1"/>
              <a:t>ThrottlerModule</a:t>
            </a:r>
            <a:r>
              <a:rPr sz="1400" dirty="0"/>
              <a:t> API rate limiting and helmet security headers.</a:t>
            </a:r>
          </a:p>
          <a:p>
            <a:pPr>
              <a:spcBef>
                <a:spcPts val="800"/>
              </a:spcBef>
              <a:defRPr sz="919">
                <a:solidFill>
                  <a:srgbClr val="0F172A"/>
                </a:solidFill>
              </a:defRPr>
            </a:pPr>
            <a:r>
              <a:rPr sz="1400" dirty="0"/>
              <a:t>• Constructed full-stack </a:t>
            </a:r>
            <a:r>
              <a:rPr sz="1400" dirty="0" err="1"/>
              <a:t>monorepo</a:t>
            </a:r>
            <a:r>
              <a:rPr sz="1400" dirty="0"/>
              <a:t> launch workflow via 'concurrently'.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04 | INTERNSHIP GOALS &amp; OUTCOMES (2/2)</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Internship Outcomes: 94/100 Industry Evaluation</a:t>
            </a:r>
          </a:p>
        </p:txBody>
      </p:sp>
      <p:sp>
        <p:nvSpPr>
          <p:cNvPr id="4" name="Rectangle 3"/>
          <p:cNvSpPr/>
          <p:nvPr/>
        </p:nvSpPr>
        <p:spPr>
          <a:xfrm>
            <a:off x="731520" y="1280160"/>
            <a:ext cx="4114800" cy="5029200"/>
          </a:xfrm>
          <a:prstGeom prst="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63040"/>
            <a:ext cx="3749039" cy="2462213"/>
          </a:xfrm>
          <a:prstGeom prst="rect">
            <a:avLst/>
          </a:prstGeom>
          <a:noFill/>
        </p:spPr>
        <p:txBody>
          <a:bodyPr wrap="square">
            <a:spAutoFit/>
          </a:bodyPr>
          <a:lstStyle/>
          <a:p>
            <a:pPr>
              <a:defRPr sz="1100" b="1">
                <a:solidFill>
                  <a:srgbClr val="0EA5E9"/>
                </a:solidFill>
              </a:defRPr>
            </a:pPr>
            <a:r>
              <a:rPr sz="1400" dirty="0"/>
              <a:t>INDUSTRY EVALUATION</a:t>
            </a:r>
          </a:p>
          <a:p>
            <a:pPr>
              <a:spcBef>
                <a:spcPts val="1000"/>
              </a:spcBef>
              <a:defRPr sz="4400" b="1">
                <a:solidFill>
                  <a:srgbClr val="F59E0B"/>
                </a:solidFill>
              </a:defRPr>
            </a:pPr>
            <a:r>
              <a:rPr sz="5400" dirty="0"/>
              <a:t>94 / 100</a:t>
            </a:r>
          </a:p>
          <a:p>
            <a:pPr>
              <a:defRPr sz="1400" b="1">
                <a:solidFill>
                  <a:srgbClr val="FFFFFF"/>
                </a:solidFill>
              </a:defRPr>
            </a:pPr>
            <a:r>
              <a:rPr dirty="0"/>
              <a:t>GRADE: EXCELLENT</a:t>
            </a:r>
          </a:p>
          <a:p>
            <a:pPr>
              <a:spcBef>
                <a:spcPts val="1400"/>
              </a:spcBef>
              <a:defRPr sz="950" i="1">
                <a:solidFill>
                  <a:srgbClr val="CBD5E1"/>
                </a:solidFill>
              </a:defRPr>
            </a:pPr>
            <a:r>
              <a:rPr sz="1050" dirty="0"/>
              <a:t>Supervisor Feedback (Code Cipta):</a:t>
            </a:r>
            <a:br>
              <a:rPr sz="1050" dirty="0"/>
            </a:br>
            <a:r>
              <a:rPr sz="1050" dirty="0"/>
              <a:t>"Agus demonstrated outstanding technical growth and initiative. He engineered the backend architecture with high quality, actively solved complex relational and spatial challenges, and maintained exceptional professional teamwork throughout the placement."</a:t>
            </a:r>
          </a:p>
        </p:txBody>
      </p:sp>
      <p:sp>
        <p:nvSpPr>
          <p:cNvPr id="6" name="Rectangle 5"/>
          <p:cNvSpPr/>
          <p:nvPr/>
        </p:nvSpPr>
        <p:spPr>
          <a:xfrm>
            <a:off x="5120640" y="1280160"/>
            <a:ext cx="6309360" cy="113385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0" y="1389888"/>
            <a:ext cx="5943600" cy="728405"/>
          </a:xfrm>
          <a:prstGeom prst="rect">
            <a:avLst/>
          </a:prstGeom>
          <a:noFill/>
        </p:spPr>
        <p:txBody>
          <a:bodyPr wrap="square">
            <a:spAutoFit/>
          </a:bodyPr>
          <a:lstStyle/>
          <a:p>
            <a:pPr>
              <a:defRPr sz="1100" b="1">
                <a:solidFill>
                  <a:srgbClr val="0284C7"/>
                </a:solidFill>
              </a:defRPr>
            </a:pPr>
            <a:r>
              <a:rPr sz="1600" dirty="0"/>
              <a:t>Weeks 1 – 4 | Planning &amp; Schema Locking</a:t>
            </a:r>
          </a:p>
          <a:p>
            <a:pPr>
              <a:spcBef>
                <a:spcPts val="400"/>
              </a:spcBef>
              <a:defRPr sz="919">
                <a:solidFill>
                  <a:srgbClr val="0F172A"/>
                </a:solidFill>
              </a:defRPr>
            </a:pPr>
            <a:r>
              <a:rPr sz="1100" dirty="0"/>
              <a:t>Requirement gathering with </a:t>
            </a:r>
            <a:r>
              <a:rPr sz="1100" dirty="0" err="1"/>
              <a:t>Bli</a:t>
            </a:r>
            <a:r>
              <a:rPr sz="1100" dirty="0"/>
              <a:t> Dek, PRD/TRD authoring, SQLite schema locking, and </a:t>
            </a:r>
            <a:r>
              <a:rPr sz="1100" dirty="0" err="1"/>
              <a:t>NestJS</a:t>
            </a:r>
            <a:r>
              <a:rPr sz="1100" dirty="0"/>
              <a:t> scaffolding.</a:t>
            </a:r>
          </a:p>
        </p:txBody>
      </p:sp>
      <p:sp>
        <p:nvSpPr>
          <p:cNvPr id="8" name="Rectangle 7"/>
          <p:cNvSpPr/>
          <p:nvPr/>
        </p:nvSpPr>
        <p:spPr>
          <a:xfrm>
            <a:off x="5120640" y="2523744"/>
            <a:ext cx="6309360" cy="113385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2633472"/>
            <a:ext cx="5943600" cy="559127"/>
          </a:xfrm>
          <a:prstGeom prst="rect">
            <a:avLst/>
          </a:prstGeom>
          <a:noFill/>
        </p:spPr>
        <p:txBody>
          <a:bodyPr wrap="square">
            <a:spAutoFit/>
          </a:bodyPr>
          <a:lstStyle/>
          <a:p>
            <a:pPr>
              <a:defRPr sz="1100" b="1">
                <a:solidFill>
                  <a:srgbClr val="0284C7"/>
                </a:solidFill>
              </a:defRPr>
            </a:pPr>
            <a:r>
              <a:rPr sz="1600" dirty="0"/>
              <a:t>Weeks 6 – 9 | Core Modules &amp; Bilingual Rework</a:t>
            </a:r>
          </a:p>
          <a:p>
            <a:pPr>
              <a:spcBef>
                <a:spcPts val="400"/>
              </a:spcBef>
              <a:defRPr sz="919">
                <a:solidFill>
                  <a:srgbClr val="0F172A"/>
                </a:solidFill>
              </a:defRPr>
            </a:pPr>
            <a:r>
              <a:rPr sz="1100" dirty="0"/>
              <a:t>Projects CRUD, Contact Inquiries with class-validator, and bilingual Chinese/English entity refactoring.</a:t>
            </a:r>
          </a:p>
        </p:txBody>
      </p:sp>
      <p:sp>
        <p:nvSpPr>
          <p:cNvPr id="10" name="Rectangle 9"/>
          <p:cNvSpPr/>
          <p:nvPr/>
        </p:nvSpPr>
        <p:spPr>
          <a:xfrm>
            <a:off x="5120640" y="3767328"/>
            <a:ext cx="6309360" cy="113385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0" y="3877056"/>
            <a:ext cx="5943600" cy="728405"/>
          </a:xfrm>
          <a:prstGeom prst="rect">
            <a:avLst/>
          </a:prstGeom>
          <a:noFill/>
        </p:spPr>
        <p:txBody>
          <a:bodyPr wrap="square">
            <a:spAutoFit/>
          </a:bodyPr>
          <a:lstStyle/>
          <a:p>
            <a:pPr>
              <a:defRPr sz="1100" b="1">
                <a:solidFill>
                  <a:srgbClr val="0284C7"/>
                </a:solidFill>
              </a:defRPr>
            </a:pPr>
            <a:r>
              <a:rPr sz="1600" dirty="0"/>
              <a:t>Weeks 10 – 12 | Auth &amp; Production Deployment</a:t>
            </a:r>
          </a:p>
          <a:p>
            <a:pPr>
              <a:spcBef>
                <a:spcPts val="400"/>
              </a:spcBef>
              <a:defRPr sz="919">
                <a:solidFill>
                  <a:srgbClr val="0F172A"/>
                </a:solidFill>
              </a:defRPr>
            </a:pPr>
            <a:r>
              <a:rPr sz="1100" dirty="0"/>
              <a:t>Passport JWT authentication, </a:t>
            </a:r>
            <a:r>
              <a:rPr sz="1100" dirty="0" err="1"/>
              <a:t>JwtAuthGuard</a:t>
            </a:r>
            <a:r>
              <a:rPr sz="1100" dirty="0"/>
              <a:t>, production PM2/Nginx hosting setup, and Angular integration.</a:t>
            </a:r>
          </a:p>
        </p:txBody>
      </p:sp>
      <p:sp>
        <p:nvSpPr>
          <p:cNvPr id="12" name="Rectangle 11"/>
          <p:cNvSpPr/>
          <p:nvPr/>
        </p:nvSpPr>
        <p:spPr>
          <a:xfrm>
            <a:off x="5120640" y="5010912"/>
            <a:ext cx="6309360" cy="113385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3520" y="5120640"/>
            <a:ext cx="5943600" cy="728405"/>
          </a:xfrm>
          <a:prstGeom prst="rect">
            <a:avLst/>
          </a:prstGeom>
          <a:noFill/>
        </p:spPr>
        <p:txBody>
          <a:bodyPr wrap="square">
            <a:spAutoFit/>
          </a:bodyPr>
          <a:lstStyle/>
          <a:p>
            <a:pPr>
              <a:defRPr sz="1100" b="1">
                <a:solidFill>
                  <a:srgbClr val="0284C7"/>
                </a:solidFill>
              </a:defRPr>
            </a:pPr>
            <a:r>
              <a:rPr sz="1600" dirty="0"/>
              <a:t>Weeks 13 – 14 | UAT, Handover &amp; Deliverables</a:t>
            </a:r>
          </a:p>
          <a:p>
            <a:pPr>
              <a:spcBef>
                <a:spcPts val="400"/>
              </a:spcBef>
              <a:defRPr sz="919">
                <a:solidFill>
                  <a:srgbClr val="0F172A"/>
                </a:solidFill>
              </a:defRPr>
            </a:pPr>
            <a:r>
              <a:rPr sz="1100" dirty="0"/>
              <a:t>Formal client UAT sign-off with </a:t>
            </a:r>
            <a:r>
              <a:rPr sz="1100" dirty="0" err="1"/>
              <a:t>Bli</a:t>
            </a:r>
            <a:r>
              <a:rPr sz="1100" dirty="0"/>
              <a:t> Dek, automated backups, project handover on 30 Sept, and final report completion.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05 | PROFESSIONAL REFLECTION</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Experience Gained: Academic Learning vs. Industry Reality</a:t>
            </a:r>
          </a:p>
        </p:txBody>
      </p:sp>
      <p:sp>
        <p:nvSpPr>
          <p:cNvPr id="4" name="Rectangle 3"/>
          <p:cNvSpPr/>
          <p:nvPr/>
        </p:nvSpPr>
        <p:spPr>
          <a:xfrm>
            <a:off x="731520" y="1280160"/>
            <a:ext cx="521208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44752"/>
            <a:ext cx="4846320" cy="1092607"/>
          </a:xfrm>
          <a:prstGeom prst="rect">
            <a:avLst/>
          </a:prstGeom>
          <a:noFill/>
        </p:spPr>
        <p:txBody>
          <a:bodyPr wrap="square">
            <a:spAutoFit/>
          </a:bodyPr>
          <a:lstStyle/>
          <a:p>
            <a:pPr>
              <a:defRPr sz="1100" b="1">
                <a:solidFill>
                  <a:srgbClr val="0284C7"/>
                </a:solidFill>
              </a:defRPr>
            </a:pPr>
            <a:r>
              <a:rPr sz="1600" dirty="0"/>
              <a:t>1. RELATIONAL ORM IN PRODUCTION</a:t>
            </a:r>
          </a:p>
          <a:p>
            <a:pPr>
              <a:spcBef>
                <a:spcPts val="600"/>
              </a:spcBef>
              <a:defRPr sz="919">
                <a:solidFill>
                  <a:srgbClr val="0F172A"/>
                </a:solidFill>
              </a:defRPr>
            </a:pPr>
            <a:r>
              <a:rPr sz="1100" dirty="0"/>
              <a:t>In university, database assignments focus on writing raw SQL queries on static test tables. In this internship, I learned how enterprise ORMs (</a:t>
            </a:r>
            <a:r>
              <a:rPr sz="1100" dirty="0" err="1"/>
              <a:t>TypeORM</a:t>
            </a:r>
            <a:r>
              <a:rPr sz="1100" dirty="0"/>
              <a:t>) manage entity state lifecycles, cascading child associations, and transactional queries, while synchronizing relational state with physical files stored on the server's disk.</a:t>
            </a:r>
          </a:p>
        </p:txBody>
      </p:sp>
      <p:sp>
        <p:nvSpPr>
          <p:cNvPr id="6" name="Rectangle 5"/>
          <p:cNvSpPr/>
          <p:nvPr/>
        </p:nvSpPr>
        <p:spPr>
          <a:xfrm>
            <a:off x="6217920" y="1280160"/>
            <a:ext cx="521208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444752"/>
            <a:ext cx="4846320" cy="1092607"/>
          </a:xfrm>
          <a:prstGeom prst="rect">
            <a:avLst/>
          </a:prstGeom>
          <a:noFill/>
        </p:spPr>
        <p:txBody>
          <a:bodyPr wrap="square">
            <a:spAutoFit/>
          </a:bodyPr>
          <a:lstStyle/>
          <a:p>
            <a:pPr>
              <a:defRPr sz="1100" b="1">
                <a:solidFill>
                  <a:srgbClr val="0284C7"/>
                </a:solidFill>
              </a:defRPr>
            </a:pPr>
            <a:r>
              <a:rPr sz="1600" dirty="0"/>
              <a:t>2. MODULAR ARCHITECTURE &amp; DI</a:t>
            </a:r>
          </a:p>
          <a:p>
            <a:pPr>
              <a:spcBef>
                <a:spcPts val="600"/>
              </a:spcBef>
              <a:defRPr sz="919">
                <a:solidFill>
                  <a:srgbClr val="0F172A"/>
                </a:solidFill>
              </a:defRPr>
            </a:pPr>
            <a:r>
              <a:rPr sz="1100" dirty="0"/>
              <a:t>Classroom coding often consists of monolithic scripts. At Code Cipta, I mastered </a:t>
            </a:r>
            <a:r>
              <a:rPr sz="1100" dirty="0" err="1"/>
              <a:t>NestJS's</a:t>
            </a:r>
            <a:r>
              <a:rPr sz="1100" dirty="0"/>
              <a:t> opinionated dependency injection container, modular providers, and custom decorators, learning how decoupled architectures make enterprise code testable, maintainable, and scalable.</a:t>
            </a:r>
          </a:p>
        </p:txBody>
      </p:sp>
      <p:sp>
        <p:nvSpPr>
          <p:cNvPr id="8" name="Rectangle 7"/>
          <p:cNvSpPr/>
          <p:nvPr/>
        </p:nvSpPr>
        <p:spPr>
          <a:xfrm>
            <a:off x="731520" y="3840480"/>
            <a:ext cx="521208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005072"/>
            <a:ext cx="4846320" cy="923330"/>
          </a:xfrm>
          <a:prstGeom prst="rect">
            <a:avLst/>
          </a:prstGeom>
          <a:noFill/>
        </p:spPr>
        <p:txBody>
          <a:bodyPr wrap="square">
            <a:spAutoFit/>
          </a:bodyPr>
          <a:lstStyle/>
          <a:p>
            <a:pPr>
              <a:defRPr sz="1100" b="1">
                <a:solidFill>
                  <a:srgbClr val="0284C7"/>
                </a:solidFill>
              </a:defRPr>
            </a:pPr>
            <a:r>
              <a:rPr sz="1600" dirty="0"/>
              <a:t>3. ENTERPRISE SECURITY &amp; HEADERS</a:t>
            </a:r>
          </a:p>
          <a:p>
            <a:pPr>
              <a:spcBef>
                <a:spcPts val="600"/>
              </a:spcBef>
              <a:defRPr sz="919">
                <a:solidFill>
                  <a:srgbClr val="0F172A"/>
                </a:solidFill>
              </a:defRPr>
            </a:pPr>
            <a:r>
              <a:rPr sz="1100" dirty="0"/>
              <a:t>I gained hands-on experience implementing multi-tiered security: configuring CORS whitelists for Angular, enforcing class-validator DTO sanitization, hashing passwords with salted </a:t>
            </a:r>
            <a:r>
              <a:rPr sz="1100" dirty="0" err="1"/>
              <a:t>bcrypt</a:t>
            </a:r>
            <a:r>
              <a:rPr sz="1100" dirty="0"/>
              <a:t> rounds, and applying helmet HTTP security headers.</a:t>
            </a:r>
          </a:p>
        </p:txBody>
      </p:sp>
      <p:sp>
        <p:nvSpPr>
          <p:cNvPr id="10" name="Rectangle 9"/>
          <p:cNvSpPr/>
          <p:nvPr/>
        </p:nvSpPr>
        <p:spPr>
          <a:xfrm>
            <a:off x="6217920" y="3840480"/>
            <a:ext cx="521208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005072"/>
            <a:ext cx="4846320" cy="1277273"/>
          </a:xfrm>
          <a:prstGeom prst="rect">
            <a:avLst/>
          </a:prstGeom>
          <a:noFill/>
        </p:spPr>
        <p:txBody>
          <a:bodyPr wrap="square">
            <a:spAutoFit/>
          </a:bodyPr>
          <a:lstStyle/>
          <a:p>
            <a:pPr>
              <a:defRPr sz="1100" b="1">
                <a:solidFill>
                  <a:srgbClr val="0284C7"/>
                </a:solidFill>
              </a:defRPr>
            </a:pPr>
            <a:r>
              <a:rPr sz="1600" dirty="0"/>
              <a:t>4. CLOUD DEPLOYMENT &amp; OPERATIONS</a:t>
            </a:r>
          </a:p>
          <a:p>
            <a:pPr>
              <a:spcBef>
                <a:spcPts val="600"/>
              </a:spcBef>
              <a:defRPr sz="919">
                <a:solidFill>
                  <a:srgbClr val="0F172A"/>
                </a:solidFill>
              </a:defRPr>
            </a:pPr>
            <a:r>
              <a:rPr sz="1400" dirty="0"/>
              <a:t>Moving beyond localhost:3000, I learned how to prepare production configurations (.</a:t>
            </a:r>
            <a:r>
              <a:rPr sz="1400" dirty="0" err="1"/>
              <a:t>env.production</a:t>
            </a:r>
            <a:r>
              <a:rPr sz="1400" dirty="0"/>
              <a:t>), set up PM2 process management with automatic reboot recovery, configure Nginx reverse proxies, and handle live HTTPS domain URL resolution.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06 | CRITICAL INSIGHTS</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Lessons Learned: Problem Solving &amp; Engineering Best Practices</a:t>
            </a:r>
          </a:p>
        </p:txBody>
      </p:sp>
      <p:sp>
        <p:nvSpPr>
          <p:cNvPr id="4" name="Rectangle 3"/>
          <p:cNvSpPr/>
          <p:nvPr/>
        </p:nvSpPr>
        <p:spPr>
          <a:xfrm>
            <a:off x="7315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463040"/>
            <a:ext cx="3054096" cy="2108269"/>
          </a:xfrm>
          <a:prstGeom prst="rect">
            <a:avLst/>
          </a:prstGeom>
          <a:noFill/>
        </p:spPr>
        <p:txBody>
          <a:bodyPr wrap="square">
            <a:spAutoFit/>
          </a:bodyPr>
          <a:lstStyle/>
          <a:p>
            <a:pPr>
              <a:defRPr sz="1000" b="1">
                <a:solidFill>
                  <a:srgbClr val="0284C7"/>
                </a:solidFill>
              </a:defRPr>
            </a:pPr>
            <a:r>
              <a:rPr sz="1200" dirty="0"/>
              <a:t>1. TEST COMBINED EDGE CASES EARLY</a:t>
            </a:r>
          </a:p>
          <a:p>
            <a:pPr>
              <a:spcBef>
                <a:spcPts val="800"/>
              </a:spcBef>
              <a:defRPr sz="919">
                <a:solidFill>
                  <a:srgbClr val="0F172A"/>
                </a:solidFill>
              </a:defRPr>
            </a:pPr>
            <a:r>
              <a:rPr sz="1100" dirty="0"/>
              <a:t>• During late Admin Dashboard testing, an intermittent error appeared when updating text and replacing gallery images in one request.</a:t>
            </a:r>
          </a:p>
          <a:p>
            <a:pPr>
              <a:spcBef>
                <a:spcPts val="800"/>
              </a:spcBef>
              <a:defRPr sz="919">
                <a:solidFill>
                  <a:srgbClr val="0F172A"/>
                </a:solidFill>
              </a:defRPr>
            </a:pPr>
            <a:r>
              <a:rPr sz="1100" dirty="0"/>
              <a:t>• Key Insight: Individual CRUD tests pass easily, but multi-field combination updates reveal subtle ORM cascade detachment bugs.</a:t>
            </a:r>
          </a:p>
          <a:p>
            <a:pPr>
              <a:spcBef>
                <a:spcPts val="800"/>
              </a:spcBef>
              <a:defRPr sz="919">
                <a:solidFill>
                  <a:srgbClr val="0F172A"/>
                </a:solidFill>
              </a:defRPr>
            </a:pPr>
            <a:r>
              <a:rPr sz="1100" dirty="0"/>
              <a:t>• Takeaway: Schedule combined-field and edge-case integration tests earlier in sprint cycles rather than in final acceptance testing.</a:t>
            </a:r>
          </a:p>
        </p:txBody>
      </p:sp>
      <p:sp>
        <p:nvSpPr>
          <p:cNvPr id="6" name="Rectangle 5"/>
          <p:cNvSpPr/>
          <p:nvPr/>
        </p:nvSpPr>
        <p:spPr>
          <a:xfrm>
            <a:off x="43891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53712" y="1463040"/>
            <a:ext cx="3054096" cy="2277547"/>
          </a:xfrm>
          <a:prstGeom prst="rect">
            <a:avLst/>
          </a:prstGeom>
          <a:noFill/>
        </p:spPr>
        <p:txBody>
          <a:bodyPr wrap="square">
            <a:spAutoFit/>
          </a:bodyPr>
          <a:lstStyle/>
          <a:p>
            <a:pPr>
              <a:defRPr sz="1000" b="1">
                <a:solidFill>
                  <a:srgbClr val="F59E0B"/>
                </a:solidFill>
              </a:defRPr>
            </a:pPr>
            <a:r>
              <a:rPr sz="1200" dirty="0"/>
              <a:t>2. LIVING API CONTRACTS (SWAGGER)</a:t>
            </a:r>
          </a:p>
          <a:p>
            <a:pPr>
              <a:spcBef>
                <a:spcPts val="800"/>
              </a:spcBef>
              <a:defRPr sz="919">
                <a:solidFill>
                  <a:srgbClr val="0F172A"/>
                </a:solidFill>
              </a:defRPr>
            </a:pPr>
            <a:r>
              <a:rPr sz="1100" dirty="0"/>
              <a:t>• Early informal verbal agreements with the frontend developer caused minor payload mismatches (e.g. image array naming conventions).</a:t>
            </a:r>
          </a:p>
          <a:p>
            <a:pPr>
              <a:spcBef>
                <a:spcPts val="800"/>
              </a:spcBef>
              <a:defRPr sz="919">
                <a:solidFill>
                  <a:srgbClr val="0F172A"/>
                </a:solidFill>
              </a:defRPr>
            </a:pPr>
            <a:r>
              <a:rPr sz="1100" dirty="0"/>
              <a:t>• Key Insight: Verbal alignment quickly drifts during rapid iterations.</a:t>
            </a:r>
          </a:p>
          <a:p>
            <a:pPr>
              <a:spcBef>
                <a:spcPts val="800"/>
              </a:spcBef>
              <a:defRPr sz="919">
                <a:solidFill>
                  <a:srgbClr val="0F172A"/>
                </a:solidFill>
              </a:defRPr>
            </a:pPr>
            <a:r>
              <a:rPr sz="1100" dirty="0"/>
              <a:t>• Takeaway: Integrate Swagger </a:t>
            </a:r>
            <a:r>
              <a:rPr sz="1100" dirty="0" err="1"/>
              <a:t>OpenAPI</a:t>
            </a:r>
            <a:r>
              <a:rPr sz="1100" dirty="0"/>
              <a:t> (@nestjs/swagger) and synchronized Postman collections from Day 1 to maintain an authoritative single source of truth.</a:t>
            </a:r>
          </a:p>
        </p:txBody>
      </p:sp>
      <p:sp>
        <p:nvSpPr>
          <p:cNvPr id="8" name="Rectangle 7"/>
          <p:cNvSpPr/>
          <p:nvPr/>
        </p:nvSpPr>
        <p:spPr>
          <a:xfrm>
            <a:off x="80467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463040"/>
            <a:ext cx="3054096" cy="2108269"/>
          </a:xfrm>
          <a:prstGeom prst="rect">
            <a:avLst/>
          </a:prstGeom>
          <a:noFill/>
        </p:spPr>
        <p:txBody>
          <a:bodyPr wrap="square">
            <a:spAutoFit/>
          </a:bodyPr>
          <a:lstStyle/>
          <a:p>
            <a:pPr>
              <a:defRPr sz="1000" b="1">
                <a:solidFill>
                  <a:srgbClr val="0EA5E9"/>
                </a:solidFill>
              </a:defRPr>
            </a:pPr>
            <a:r>
              <a:rPr sz="1200" dirty="0"/>
              <a:t>3. DEFENSIVE DESIGN &amp; AUTOMATED SAFETY</a:t>
            </a:r>
          </a:p>
          <a:p>
            <a:pPr>
              <a:spcBef>
                <a:spcPts val="800"/>
              </a:spcBef>
              <a:defRPr sz="919">
                <a:solidFill>
                  <a:srgbClr val="0F172A"/>
                </a:solidFill>
              </a:defRPr>
            </a:pPr>
            <a:r>
              <a:rPr sz="1100" dirty="0"/>
              <a:t>• External services and runtime environments often behave unpredictably (e.g. missing SMTP credentials on local dev machines).</a:t>
            </a:r>
          </a:p>
          <a:p>
            <a:pPr>
              <a:spcBef>
                <a:spcPts val="800"/>
              </a:spcBef>
              <a:defRPr sz="919">
                <a:solidFill>
                  <a:srgbClr val="0F172A"/>
                </a:solidFill>
              </a:defRPr>
            </a:pPr>
            <a:r>
              <a:rPr sz="1100" dirty="0"/>
              <a:t>• Key Insight: Systems must be designed to degrade gracefully without breaking primary database transactions.</a:t>
            </a:r>
          </a:p>
          <a:p>
            <a:pPr>
              <a:spcBef>
                <a:spcPts val="800"/>
              </a:spcBef>
              <a:defRPr sz="919">
                <a:solidFill>
                  <a:srgbClr val="0F172A"/>
                </a:solidFill>
              </a:defRPr>
            </a:pPr>
            <a:r>
              <a:rPr sz="1100" dirty="0"/>
              <a:t>• Takeaway: Build simulation fallbacks and establish automated database backup scripts before handing administrative access to clients.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07 | STAKEHOLDER COLLABORATION</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Communication: Team Interactions &amp; Interpersonal Dynamics</a:t>
            </a:r>
          </a:p>
        </p:txBody>
      </p:sp>
      <p:sp>
        <p:nvSpPr>
          <p:cNvPr id="4" name="Rectangle 3"/>
          <p:cNvSpPr/>
          <p:nvPr/>
        </p:nvSpPr>
        <p:spPr>
          <a:xfrm>
            <a:off x="731520" y="1280160"/>
            <a:ext cx="5212080" cy="187451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89888"/>
            <a:ext cx="4846320" cy="1205458"/>
          </a:xfrm>
          <a:prstGeom prst="rect">
            <a:avLst/>
          </a:prstGeom>
          <a:noFill/>
        </p:spPr>
        <p:txBody>
          <a:bodyPr wrap="square">
            <a:spAutoFit/>
          </a:bodyPr>
          <a:lstStyle/>
          <a:p>
            <a:pPr>
              <a:defRPr sz="1050" b="1">
                <a:solidFill>
                  <a:srgbClr val="0284C7"/>
                </a:solidFill>
              </a:defRPr>
            </a:pPr>
            <a:r>
              <a:rPr sz="1400" dirty="0"/>
              <a:t>PEER COLLABORATION (FRONTEND)</a:t>
            </a:r>
          </a:p>
          <a:p>
            <a:pPr>
              <a:spcBef>
                <a:spcPts val="400"/>
              </a:spcBef>
              <a:defRPr sz="900">
                <a:solidFill>
                  <a:srgbClr val="0F172A"/>
                </a:solidFill>
              </a:defRPr>
            </a:pPr>
            <a:r>
              <a:rPr sz="1100" dirty="0"/>
              <a:t>Collaborated daily with Kevin </a:t>
            </a:r>
            <a:r>
              <a:rPr sz="1100" dirty="0" err="1"/>
              <a:t>Wiratama</a:t>
            </a:r>
            <a:r>
              <a:rPr sz="1100" dirty="0"/>
              <a:t> (Frontend Developer) via Discord and GitHub pull requests. We established written API contracts in Postman, aligned CORS preflight policies, and resolved image upload boundaries. Pairing directly on Three.js WebGL data binding ensured our backend </a:t>
            </a:r>
            <a:r>
              <a:rPr sz="1100" dirty="0" err="1"/>
              <a:t>cubeIndex</a:t>
            </a:r>
            <a:r>
              <a:rPr sz="1100" dirty="0"/>
              <a:t> mapped perfectly to the 3D </a:t>
            </a:r>
            <a:r>
              <a:rPr sz="1100" dirty="0" err="1"/>
              <a:t>raycaster</a:t>
            </a:r>
            <a:r>
              <a:rPr sz="1100" dirty="0"/>
              <a:t>.</a:t>
            </a:r>
          </a:p>
        </p:txBody>
      </p:sp>
      <p:sp>
        <p:nvSpPr>
          <p:cNvPr id="6" name="Rectangle 5"/>
          <p:cNvSpPr/>
          <p:nvPr/>
        </p:nvSpPr>
        <p:spPr>
          <a:xfrm>
            <a:off x="731520" y="3291840"/>
            <a:ext cx="5212080" cy="187451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401568"/>
            <a:ext cx="4846320" cy="1205458"/>
          </a:xfrm>
          <a:prstGeom prst="rect">
            <a:avLst/>
          </a:prstGeom>
          <a:noFill/>
        </p:spPr>
        <p:txBody>
          <a:bodyPr wrap="square">
            <a:spAutoFit/>
          </a:bodyPr>
          <a:lstStyle/>
          <a:p>
            <a:pPr>
              <a:defRPr sz="1050" b="1">
                <a:solidFill>
                  <a:srgbClr val="0284C7"/>
                </a:solidFill>
              </a:defRPr>
            </a:pPr>
            <a:r>
              <a:rPr sz="1400" dirty="0"/>
              <a:t>SUPERVISOR MENTORSHIP &amp; REVIEWS</a:t>
            </a:r>
          </a:p>
          <a:p>
            <a:pPr>
              <a:spcBef>
                <a:spcPts val="400"/>
              </a:spcBef>
              <a:defRPr sz="900">
                <a:solidFill>
                  <a:srgbClr val="0F172A"/>
                </a:solidFill>
              </a:defRPr>
            </a:pPr>
            <a:r>
              <a:rPr sz="1100" dirty="0"/>
              <a:t>Participated in weekly sprint reviews with my supervisor at Code Cipta. Presented live API demonstrations, discussed schema decisions, and incorporated feedback on code cleanliness and migration safety. Practiced active listening and transparent defect reporting, which built trust and earned an 'Excellent' evaluation.</a:t>
            </a:r>
          </a:p>
        </p:txBody>
      </p:sp>
      <p:sp>
        <p:nvSpPr>
          <p:cNvPr id="8" name="Rectangle 7"/>
          <p:cNvSpPr/>
          <p:nvPr/>
        </p:nvSpPr>
        <p:spPr>
          <a:xfrm>
            <a:off x="6217920" y="1280160"/>
            <a:ext cx="5212080" cy="187451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389888"/>
            <a:ext cx="4846320" cy="1205458"/>
          </a:xfrm>
          <a:prstGeom prst="rect">
            <a:avLst/>
          </a:prstGeom>
          <a:noFill/>
        </p:spPr>
        <p:txBody>
          <a:bodyPr wrap="square">
            <a:spAutoFit/>
          </a:bodyPr>
          <a:lstStyle/>
          <a:p>
            <a:pPr>
              <a:defRPr sz="1050" b="1">
                <a:solidFill>
                  <a:srgbClr val="0284C7"/>
                </a:solidFill>
              </a:defRPr>
            </a:pPr>
            <a:r>
              <a:rPr sz="1400" dirty="0"/>
              <a:t>CLIENT ENGAGEMENT (</a:t>
            </a:r>
            <a:r>
              <a:rPr lang="en-US" sz="1400" dirty="0"/>
              <a:t>MARDIKA</a:t>
            </a:r>
            <a:r>
              <a:rPr sz="1400" dirty="0"/>
              <a:t>)</a:t>
            </a:r>
          </a:p>
          <a:p>
            <a:pPr>
              <a:spcBef>
                <a:spcPts val="400"/>
              </a:spcBef>
              <a:defRPr sz="900">
                <a:solidFill>
                  <a:srgbClr val="0F172A"/>
                </a:solidFill>
              </a:defRPr>
            </a:pPr>
            <a:r>
              <a:rPr sz="1100" dirty="0"/>
              <a:t>Engaged in bi-weekly milestone reviews and the formal UAT session with GRAHITA Design's studio principal, </a:t>
            </a:r>
            <a:r>
              <a:rPr sz="1100" dirty="0" err="1"/>
              <a:t>Bli</a:t>
            </a:r>
            <a:r>
              <a:rPr sz="1100" dirty="0"/>
              <a:t> Dek. Translated architectural requirements into data structures, adapted to the mid-project bilingual Chinese/English request, and executed a smooth handover on 30 September 2026, delivering administrative credentials and user guides.</a:t>
            </a:r>
          </a:p>
        </p:txBody>
      </p:sp>
      <p:sp>
        <p:nvSpPr>
          <p:cNvPr id="10" name="Rectangle 9"/>
          <p:cNvSpPr/>
          <p:nvPr/>
        </p:nvSpPr>
        <p:spPr>
          <a:xfrm>
            <a:off x="6217920" y="3291840"/>
            <a:ext cx="5212080" cy="187451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3401568"/>
            <a:ext cx="4846320" cy="1205458"/>
          </a:xfrm>
          <a:prstGeom prst="rect">
            <a:avLst/>
          </a:prstGeom>
          <a:noFill/>
        </p:spPr>
        <p:txBody>
          <a:bodyPr wrap="square">
            <a:spAutoFit/>
          </a:bodyPr>
          <a:lstStyle/>
          <a:p>
            <a:pPr>
              <a:defRPr sz="1050" b="1">
                <a:solidFill>
                  <a:srgbClr val="0284C7"/>
                </a:solidFill>
              </a:defRPr>
            </a:pPr>
            <a:r>
              <a:rPr sz="1400" dirty="0"/>
              <a:t>THE VITAL IMPORTANCE OF COMMUNICATION</a:t>
            </a:r>
          </a:p>
          <a:p>
            <a:pPr>
              <a:spcBef>
                <a:spcPts val="400"/>
              </a:spcBef>
              <a:defRPr sz="900">
                <a:solidFill>
                  <a:srgbClr val="0F172A"/>
                </a:solidFill>
              </a:defRPr>
            </a:pPr>
            <a:r>
              <a:rPr sz="1100" dirty="0"/>
              <a:t>Technical skill alone cannot deliver software. Proactive communication, written contracts, and transparent status updates prevented scope misunderstandings and integration bottlenecks. Effective cross-functional collaboration was the single most critical factor in delivering a production-ready spatial platform on schedule.</a:t>
            </a:r>
          </a:p>
        </p:txBody>
      </p:sp>
      <p:sp>
        <p:nvSpPr>
          <p:cNvPr id="12" name="Rectangle 11"/>
          <p:cNvSpPr/>
          <p:nvPr/>
        </p:nvSpPr>
        <p:spPr>
          <a:xfrm>
            <a:off x="731520" y="5440680"/>
            <a:ext cx="10698480" cy="868680"/>
          </a:xfrm>
          <a:prstGeom prst="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532120"/>
            <a:ext cx="10332720" cy="685800"/>
          </a:xfrm>
          <a:prstGeom prst="rect">
            <a:avLst/>
          </a:prstGeom>
          <a:noFill/>
        </p:spPr>
        <p:txBody>
          <a:bodyPr wrap="square">
            <a:spAutoFit/>
          </a:bodyPr>
          <a:lstStyle/>
          <a:p>
            <a:pPr algn="ctr">
              <a:defRPr sz="1100" b="1">
                <a:solidFill>
                  <a:srgbClr val="0EA5E9"/>
                </a:solidFill>
              </a:defRPr>
            </a:pPr>
            <a:r>
              <a:t>THANK YOU FOR YOUR TIME &amp; ATTENTION  |  OPEN FOR QUESTIONS &amp; ANSWERS (Q&amp;A)</a:t>
            </a:r>
          </a:p>
          <a:p>
            <a:pPr algn="ctr">
              <a:defRPr sz="900">
                <a:solidFill>
                  <a:srgbClr val="CBD5E1"/>
                </a:solidFill>
              </a:defRPr>
            </a:pPr>
            <a:r>
              <a:t>I Putu Agus Aribawa  |  Student ID: E2400080  |  BIT320 Industrial Internship  |  Code Cipta &amp; GRAHITA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3617</Words>
  <Application>Microsoft Office PowerPoint</Application>
  <PresentationFormat>Widescreen</PresentationFormat>
  <Paragraphs>167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iputuagus aribawa</cp:lastModifiedBy>
  <cp:revision>3</cp:revision>
  <dcterms:created xsi:type="dcterms:W3CDTF">2013-01-27T09:14:16Z</dcterms:created>
  <dcterms:modified xsi:type="dcterms:W3CDTF">2026-10-02T04:30:26Z</dcterms:modified>
  <cp:category/>
</cp:coreProperties>
</file>